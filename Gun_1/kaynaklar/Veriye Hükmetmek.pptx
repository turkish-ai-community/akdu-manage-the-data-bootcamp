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embeddedFontLst>
    <p:embeddedFont>
      <p:font typeface="Urbanist" panose="020B0A04040200000203"/>
      <p:regular r:id="rId29"/>
      <p:bold r:id="rId30"/>
      <p:italic r:id="rId31"/>
      <p:boldItalic r:id="rId32"/>
    </p:embeddedFont>
    <p:embeddedFont>
      <p:font typeface="Inter" panose="02000503000000020004"/>
      <p:regular r:id="rId33"/>
      <p:bold r:id="rId34"/>
      <p:italic r:id="rId35"/>
      <p:boldItalic r:id="rId36"/>
    </p:embeddedFont>
    <p:embeddedFont>
      <p:font typeface="Inter SemiBold" panose="02000503000000020004" pitchFamily="2" charset="0"/>
      <p:regular r:id="rId37"/>
      <p:bold r:id="rId38"/>
      <p:italic r:id="rId39"/>
      <p:boldItalic r:id="rId40"/>
    </p:embeddedFont>
    <p:embeddedFont>
      <p:font typeface="Poppins SemiBold" panose="00000700000000000000" pitchFamily="2" charset="77"/>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46"/>
    <p:restoredTop sz="94711"/>
  </p:normalViewPr>
  <p:slideViewPr>
    <p:cSldViewPr snapToGrid="0">
      <p:cViewPr>
        <p:scale>
          <a:sx n="166" d="100"/>
          <a:sy n="166" d="100"/>
        </p:scale>
        <p:origin x="864" y="6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954ce58f12_0_5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954ce58f12_0_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954ce58f12_0_45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954ce58f12_0_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954ce58f12_0_46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954ce58f12_0_4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954ce58f12_0_4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954ce58f12_0_4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954ce58f1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3954ce58f12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954ce58f12_0_47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954ce58f12_0_4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954ce58f12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3954ce58f12_0_3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954ce58f12_0_48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954ce58f12_0_4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954ce58f12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g3954ce58f12_0_6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954ce58f12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g3954ce58f12_0_7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954ce58f12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g3954ce58f12_0_9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954ce58f12_0_5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954ce58f12_0_5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954ce58f12_0_5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954ce58f12_0_5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954ce58f12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g3954ce58f12_0_15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954ce58f12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g3954ce58f12_0_2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954ce58f12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5" name="Google Shape;285;g3954ce58f12_0_28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954ce58f12_0_5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954ce58f12_0_5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954ce58f12_0_5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954ce58f12_0_5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954ce58f12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g3954ce58f12_0_33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5.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4.jp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5.jp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6.jp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9.jp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0.jp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4.jp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Beautify this slide"/>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88"/>
        <p:cNvGrpSpPr/>
        <p:nvPr/>
      </p:nvGrpSpPr>
      <p:grpSpPr>
        <a:xfrm>
          <a:off x="0" y="0"/>
          <a:ext cx="0" cy="0"/>
          <a:chOff x="0" y="0"/>
          <a:chExt cx="0" cy="0"/>
        </a:xfrm>
      </p:grpSpPr>
      <p:pic>
        <p:nvPicPr>
          <p:cNvPr id="89" name="Google Shape;89;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0" name="Google Shape;90;p14"/>
          <p:cNvSpPr txBox="1"/>
          <p:nvPr/>
        </p:nvSpPr>
        <p:spPr>
          <a:xfrm>
            <a:off x="1009650" y="2439739"/>
            <a:ext cx="4800600" cy="108361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818CF8"/>
                </a:solidFill>
                <a:latin typeface="Inter SemiBold"/>
                <a:ea typeface="Inter SemiBold"/>
                <a:cs typeface="Inter SemiBold"/>
                <a:sym typeface="Inter SemiBold"/>
              </a:rPr>
              <a:t>Klişe Yaklaşım: "Veri yeni petroldür."</a:t>
            </a:r>
            <a:r>
              <a:rPr lang="en-US" sz="1650" b="0" i="0" u="none" strike="noStrike" cap="none">
                <a:solidFill>
                  <a:srgbClr val="F8FAFC"/>
                </a:solidFill>
                <a:latin typeface="Inter"/>
                <a:ea typeface="Inter"/>
                <a:cs typeface="Inter"/>
                <a:sym typeface="Inter"/>
              </a:rPr>
              <a:t> Petrol gibi bir kez çıkarılır, işlenir, yakılır ve tükenir. Tek kullanımlık ve kısıtlıdır.</a:t>
            </a:r>
            <a:endParaRPr/>
          </a:p>
        </p:txBody>
      </p:sp>
      <p:sp>
        <p:nvSpPr>
          <p:cNvPr id="91" name="Google Shape;91;p14"/>
          <p:cNvSpPr txBox="1"/>
          <p:nvPr/>
        </p:nvSpPr>
        <p:spPr>
          <a:xfrm>
            <a:off x="1009650" y="3761482"/>
            <a:ext cx="4800600" cy="141877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818CF8"/>
                </a:solidFill>
                <a:latin typeface="Inter SemiBold"/>
                <a:ea typeface="Inter SemiBold"/>
                <a:cs typeface="Inter SemiBold"/>
                <a:sym typeface="Inter SemiBold"/>
              </a:rPr>
              <a:t>Gerçeklik: "Veri yeni topraktır."</a:t>
            </a:r>
            <a:r>
              <a:rPr lang="en-US" sz="1650" b="0" i="0" u="none" strike="noStrike" cap="none">
                <a:solidFill>
                  <a:srgbClr val="F8FAFC"/>
                </a:solidFill>
                <a:latin typeface="Inter"/>
                <a:ea typeface="Inter"/>
                <a:cs typeface="Inter"/>
                <a:sym typeface="Inter"/>
              </a:rPr>
              <a:t> Ekildikçe çoğalır, zenginleşir. Aynı veri seti üzerinde farklı algoritmalarla bambaşka hasatlar elde edebilirsiniz.</a:t>
            </a:r>
            <a:endParaRPr/>
          </a:p>
        </p:txBody>
      </p:sp>
      <p:pic>
        <p:nvPicPr>
          <p:cNvPr id="92" name="Google Shape;92;p14" descr="image.png"/>
          <p:cNvPicPr preferRelativeResize="0"/>
          <p:nvPr/>
        </p:nvPicPr>
        <p:blipFill rotWithShape="1">
          <a:blip r:embed="rId4">
            <a:alphaModFix/>
          </a:blip>
          <a:srcRect/>
          <a:stretch/>
        </p:blipFill>
        <p:spPr>
          <a:xfrm>
            <a:off x="581025" y="2468314"/>
            <a:ext cx="171450" cy="247650"/>
          </a:xfrm>
          <a:prstGeom prst="rect">
            <a:avLst/>
          </a:prstGeom>
          <a:noFill/>
          <a:ln>
            <a:noFill/>
          </a:ln>
        </p:spPr>
      </p:pic>
      <p:pic>
        <p:nvPicPr>
          <p:cNvPr id="93" name="Google Shape;93;p14" descr="image.png"/>
          <p:cNvPicPr preferRelativeResize="0"/>
          <p:nvPr/>
        </p:nvPicPr>
        <p:blipFill rotWithShape="1">
          <a:blip r:embed="rId5">
            <a:alphaModFix/>
          </a:blip>
          <a:srcRect/>
          <a:stretch/>
        </p:blipFill>
        <p:spPr>
          <a:xfrm>
            <a:off x="581025" y="3790057"/>
            <a:ext cx="228600" cy="247650"/>
          </a:xfrm>
          <a:prstGeom prst="rect">
            <a:avLst/>
          </a:prstGeom>
          <a:noFill/>
          <a:ln>
            <a:noFill/>
          </a:ln>
        </p:spPr>
      </p:pic>
      <p:sp>
        <p:nvSpPr>
          <p:cNvPr id="94" name="Google Shape;94;p14"/>
          <p:cNvSpPr txBox="1"/>
          <p:nvPr/>
        </p:nvSpPr>
        <p:spPr>
          <a:xfrm>
            <a:off x="581025" y="581025"/>
            <a:ext cx="11581447"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0EA5E9"/>
                </a:solidFill>
                <a:latin typeface="Poppins SemiBold"/>
                <a:ea typeface="Poppins SemiBold"/>
                <a:cs typeface="Poppins SemiBold"/>
                <a:sym typeface="Poppins SemiBold"/>
              </a:rPr>
              <a:t>Veri: Yeni Petrol mü, Yeni Toprak mı?</a:t>
            </a:r>
            <a:endParaRPr/>
          </a:p>
        </p:txBody>
      </p:sp>
      <p:pic>
        <p:nvPicPr>
          <p:cNvPr id="95" name="Google Shape;95;p14" descr="A split-screen composition showing contrast. Left side: A rusty, smoking, dark industrial oil refinery at sunset, grimy atmosphere, symbolizing old energy. Right side: A glowing, digital plant with circuit board patterns on its leaves sprouting vigorously from fertile, illuminated soil made of binary code, radiating green and gold light, symbolizing sustainable data growth. Hyperrealistic contrast, cinematic."/>
          <p:cNvPicPr preferRelativeResize="0"/>
          <p:nvPr/>
        </p:nvPicPr>
        <p:blipFill>
          <a:blip r:embed="rId6">
            <a:alphaModFix/>
          </a:blip>
          <a:stretch>
            <a:fillRect/>
          </a:stretch>
        </p:blipFill>
        <p:spPr>
          <a:xfrm>
            <a:off x="6642275" y="1316250"/>
            <a:ext cx="4876800" cy="4876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99"/>
        <p:cNvGrpSpPr/>
        <p:nvPr/>
      </p:nvGrpSpPr>
      <p:grpSpPr>
        <a:xfrm>
          <a:off x="0" y="0"/>
          <a:ext cx="0" cy="0"/>
          <a:chOff x="0" y="0"/>
          <a:chExt cx="0" cy="0"/>
        </a:xfrm>
      </p:grpSpPr>
      <p:pic>
        <p:nvPicPr>
          <p:cNvPr id="100" name="Google Shape;100;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1" name="Google Shape;101;p15"/>
          <p:cNvSpPr txBox="1"/>
          <p:nvPr/>
        </p:nvSpPr>
        <p:spPr>
          <a:xfrm>
            <a:off x="1009650" y="2154611"/>
            <a:ext cx="4800600" cy="1066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Veri, modern dünyada bıraktığımız dijital ayak izimizdir. Gerçekliğin bilgisayarca anlaşılabilir formudur.</a:t>
            </a:r>
            <a:endParaRPr/>
          </a:p>
        </p:txBody>
      </p:sp>
      <p:sp>
        <p:nvSpPr>
          <p:cNvPr id="102" name="Google Shape;102;p15"/>
          <p:cNvSpPr txBox="1"/>
          <p:nvPr/>
        </p:nvSpPr>
        <p:spPr>
          <a:xfrm>
            <a:off x="1009650" y="3593875"/>
            <a:ext cx="3616200" cy="1066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Yapay zeka ve akıllı karar alma mekanizmalarının temel yakıtı olarak görev yapar.</a:t>
            </a:r>
            <a:endParaRPr/>
          </a:p>
        </p:txBody>
      </p:sp>
      <p:sp>
        <p:nvSpPr>
          <p:cNvPr id="103" name="Google Shape;103;p15"/>
          <p:cNvSpPr txBox="1"/>
          <p:nvPr/>
        </p:nvSpPr>
        <p:spPr>
          <a:xfrm>
            <a:off x="1009650" y="4914616"/>
            <a:ext cx="4800600" cy="66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Sadece sayılardan ibaret değildir; veriyi değerli kılan şey sahip olduğu "bağlamdır" (context).</a:t>
            </a:r>
            <a:endParaRPr/>
          </a:p>
        </p:txBody>
      </p:sp>
      <p:pic>
        <p:nvPicPr>
          <p:cNvPr id="104" name="Google Shape;104;p15" descr="image.png"/>
          <p:cNvPicPr preferRelativeResize="0"/>
          <p:nvPr/>
        </p:nvPicPr>
        <p:blipFill rotWithShape="1">
          <a:blip r:embed="rId4">
            <a:alphaModFix/>
          </a:blip>
          <a:srcRect/>
          <a:stretch/>
        </p:blipFill>
        <p:spPr>
          <a:xfrm>
            <a:off x="581025" y="2183186"/>
            <a:ext cx="228600" cy="247650"/>
          </a:xfrm>
          <a:prstGeom prst="rect">
            <a:avLst/>
          </a:prstGeom>
          <a:noFill/>
          <a:ln>
            <a:noFill/>
          </a:ln>
        </p:spPr>
      </p:pic>
      <p:pic>
        <p:nvPicPr>
          <p:cNvPr id="105" name="Google Shape;105;p15" descr="image.png"/>
          <p:cNvPicPr preferRelativeResize="0"/>
          <p:nvPr/>
        </p:nvPicPr>
        <p:blipFill rotWithShape="1">
          <a:blip r:embed="rId5">
            <a:alphaModFix/>
          </a:blip>
          <a:srcRect/>
          <a:stretch/>
        </p:blipFill>
        <p:spPr>
          <a:xfrm>
            <a:off x="581025" y="3622457"/>
            <a:ext cx="200025" cy="247650"/>
          </a:xfrm>
          <a:prstGeom prst="rect">
            <a:avLst/>
          </a:prstGeom>
          <a:noFill/>
          <a:ln>
            <a:noFill/>
          </a:ln>
        </p:spPr>
      </p:pic>
      <p:pic>
        <p:nvPicPr>
          <p:cNvPr id="106" name="Google Shape;106;p15" descr="image.png"/>
          <p:cNvPicPr preferRelativeResize="0"/>
          <p:nvPr/>
        </p:nvPicPr>
        <p:blipFill rotWithShape="1">
          <a:blip r:embed="rId6">
            <a:alphaModFix/>
          </a:blip>
          <a:srcRect/>
          <a:stretch/>
        </p:blipFill>
        <p:spPr>
          <a:xfrm>
            <a:off x="581025" y="4943191"/>
            <a:ext cx="285750" cy="247650"/>
          </a:xfrm>
          <a:prstGeom prst="rect">
            <a:avLst/>
          </a:prstGeom>
          <a:noFill/>
          <a:ln>
            <a:noFill/>
          </a:ln>
        </p:spPr>
      </p:pic>
      <p:sp>
        <p:nvSpPr>
          <p:cNvPr id="107" name="Google Shape;107;p15"/>
          <p:cNvSpPr txBox="1"/>
          <p:nvPr/>
        </p:nvSpPr>
        <p:spPr>
          <a:xfrm>
            <a:off x="581025" y="581025"/>
            <a:ext cx="11581447"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0EA5E9"/>
                </a:solidFill>
                <a:latin typeface="Poppins SemiBold"/>
                <a:ea typeface="Poppins SemiBold"/>
                <a:cs typeface="Poppins SemiBold"/>
                <a:sym typeface="Poppins SemiBold"/>
              </a:rPr>
              <a:t>Veri Nedir? İşlenebilir Gerçeklik</a:t>
            </a:r>
            <a:endParaRPr/>
          </a:p>
        </p:txBody>
      </p:sp>
      <p:pic>
        <p:nvPicPr>
          <p:cNvPr id="108" name="Google Shape;108;p15" descr="A bustling metropolitan city street scene where everything—people, cars, buildings, weather—is partially dissolving into transparent streams of glowing binary code, geometric data points, and floating holographic statistics. Augmented reality interface overlay view, futuristic, highly detailed, 8k render, urban data layer."/>
          <p:cNvPicPr preferRelativeResize="0"/>
          <p:nvPr/>
        </p:nvPicPr>
        <p:blipFill>
          <a:blip r:embed="rId7">
            <a:alphaModFix/>
          </a:blip>
          <a:stretch>
            <a:fillRect/>
          </a:stretch>
        </p:blipFill>
        <p:spPr>
          <a:xfrm>
            <a:off x="6678450" y="1381050"/>
            <a:ext cx="4876800" cy="4876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16" descr="Beautify this slide"/>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17" descr="Beautify this slide"/>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122"/>
        <p:cNvGrpSpPr/>
        <p:nvPr/>
      </p:nvGrpSpPr>
      <p:grpSpPr>
        <a:xfrm>
          <a:off x="0" y="0"/>
          <a:ext cx="0" cy="0"/>
          <a:chOff x="0" y="0"/>
          <a:chExt cx="0" cy="0"/>
        </a:xfrm>
      </p:grpSpPr>
      <p:pic>
        <p:nvPicPr>
          <p:cNvPr id="123" name="Google Shape;123;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4" name="Google Shape;124;p18" descr="image.png"/>
          <p:cNvPicPr preferRelativeResize="0"/>
          <p:nvPr/>
        </p:nvPicPr>
        <p:blipFill rotWithShape="1">
          <a:blip r:embed="rId4">
            <a:alphaModFix/>
          </a:blip>
          <a:srcRect/>
          <a:stretch/>
        </p:blipFill>
        <p:spPr>
          <a:xfrm>
            <a:off x="0" y="0"/>
            <a:ext cx="6096000" cy="6858000"/>
          </a:xfrm>
          <a:prstGeom prst="rect">
            <a:avLst/>
          </a:prstGeom>
          <a:noFill/>
          <a:ln>
            <a:noFill/>
          </a:ln>
        </p:spPr>
      </p:pic>
      <p:sp>
        <p:nvSpPr>
          <p:cNvPr id="125" name="Google Shape;125;p18"/>
          <p:cNvSpPr txBox="1"/>
          <p:nvPr/>
        </p:nvSpPr>
        <p:spPr>
          <a:xfrm>
            <a:off x="571500" y="571500"/>
            <a:ext cx="52006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0EA5E9"/>
                </a:solidFill>
                <a:latin typeface="Poppins SemiBold"/>
                <a:ea typeface="Poppins SemiBold"/>
                <a:cs typeface="Poppins SemiBold"/>
                <a:sym typeface="Poppins SemiBold"/>
              </a:rPr>
              <a:t>Veri Nerede Yaşar?</a:t>
            </a:r>
            <a:endParaRPr/>
          </a:p>
        </p:txBody>
      </p:sp>
      <p:pic>
        <p:nvPicPr>
          <p:cNvPr id="126" name="Google Shape;126;p18" descr="image.png"/>
          <p:cNvPicPr preferRelativeResize="0"/>
          <p:nvPr/>
        </p:nvPicPr>
        <p:blipFill rotWithShape="1">
          <a:blip r:embed="rId5">
            <a:alphaModFix/>
          </a:blip>
          <a:srcRect/>
          <a:stretch/>
        </p:blipFill>
        <p:spPr>
          <a:xfrm>
            <a:off x="6096000" y="0"/>
            <a:ext cx="6096000" cy="6858000"/>
          </a:xfrm>
          <a:prstGeom prst="rect">
            <a:avLst/>
          </a:prstGeom>
          <a:noFill/>
          <a:ln>
            <a:noFill/>
          </a:ln>
        </p:spPr>
      </p:pic>
      <p:sp>
        <p:nvSpPr>
          <p:cNvPr id="127" name="Google Shape;127;p18"/>
          <p:cNvSpPr txBox="1"/>
          <p:nvPr/>
        </p:nvSpPr>
        <p:spPr>
          <a:xfrm>
            <a:off x="1000125" y="1946374"/>
            <a:ext cx="4524375" cy="108361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818CF8"/>
                </a:solidFill>
                <a:latin typeface="Inter SemiBold"/>
                <a:ea typeface="Inter SemiBold"/>
                <a:cs typeface="Inter SemiBold"/>
                <a:sym typeface="Inter SemiBold"/>
              </a:rPr>
              <a:t>İnsan Odaklı Kaynaklar</a:t>
            </a:r>
            <a:r>
              <a:rPr lang="en-US" sz="1650" b="0" i="0" u="none" strike="noStrike" cap="none">
                <a:solidFill>
                  <a:srgbClr val="F8FAFC"/>
                </a:solidFill>
                <a:latin typeface="Inter"/>
                <a:ea typeface="Inter"/>
                <a:cs typeface="Inter"/>
                <a:sym typeface="Inter"/>
              </a:rPr>
              <a:t> Kullanıcılardan doğrudan alınan anketler, formlar ve anlık geri bildirimler.</a:t>
            </a:r>
            <a:endParaRPr/>
          </a:p>
        </p:txBody>
      </p:sp>
      <p:sp>
        <p:nvSpPr>
          <p:cNvPr id="128" name="Google Shape;128;p18"/>
          <p:cNvSpPr txBox="1"/>
          <p:nvPr/>
        </p:nvSpPr>
        <p:spPr>
          <a:xfrm>
            <a:off x="1000125" y="3268116"/>
            <a:ext cx="4524375" cy="108361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818CF8"/>
                </a:solidFill>
                <a:latin typeface="Inter SemiBold"/>
                <a:ea typeface="Inter SemiBold"/>
                <a:cs typeface="Inter SemiBold"/>
                <a:sym typeface="Inter SemiBold"/>
              </a:rPr>
              <a:t>Sistem Odaklı Kaynaklar</a:t>
            </a:r>
            <a:r>
              <a:rPr lang="en-US" sz="1650" b="0" i="0" u="none" strike="noStrike" cap="none">
                <a:solidFill>
                  <a:srgbClr val="F8FAFC"/>
                </a:solidFill>
                <a:latin typeface="Inter"/>
                <a:ea typeface="Inter"/>
                <a:cs typeface="Inter"/>
                <a:sym typeface="Inter"/>
              </a:rPr>
              <a:t> Arka planda sessizce çalışan sensörler, IoT cihazları ve server log kayıtları.</a:t>
            </a:r>
            <a:endParaRPr/>
          </a:p>
        </p:txBody>
      </p:sp>
      <p:sp>
        <p:nvSpPr>
          <p:cNvPr id="129" name="Google Shape;129;p18"/>
          <p:cNvSpPr txBox="1"/>
          <p:nvPr/>
        </p:nvSpPr>
        <p:spPr>
          <a:xfrm>
            <a:off x="1000125" y="4589859"/>
            <a:ext cx="4524375" cy="108361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818CF8"/>
                </a:solidFill>
                <a:latin typeface="Inter SemiBold"/>
                <a:ea typeface="Inter SemiBold"/>
                <a:cs typeface="Inter SemiBold"/>
                <a:sym typeface="Inter SemiBold"/>
              </a:rPr>
              <a:t>Web ve Açık Kaynaklar</a:t>
            </a:r>
            <a:r>
              <a:rPr lang="en-US" sz="1650" b="0" i="0" u="none" strike="noStrike" cap="none">
                <a:solidFill>
                  <a:srgbClr val="F8FAFC"/>
                </a:solidFill>
                <a:latin typeface="Inter"/>
                <a:ea typeface="Inter"/>
                <a:cs typeface="Inter"/>
                <a:sym typeface="Inter"/>
              </a:rPr>
              <a:t> Devlet verileri, açık API'ler, web scraping ve devasa akademik veri setleri.</a:t>
            </a:r>
            <a:endParaRPr/>
          </a:p>
        </p:txBody>
      </p:sp>
      <p:pic>
        <p:nvPicPr>
          <p:cNvPr id="130" name="Google Shape;130;p18" descr="image.png"/>
          <p:cNvPicPr preferRelativeResize="0"/>
          <p:nvPr/>
        </p:nvPicPr>
        <p:blipFill rotWithShape="1">
          <a:blip r:embed="rId6">
            <a:alphaModFix/>
          </a:blip>
          <a:srcRect/>
          <a:stretch/>
        </p:blipFill>
        <p:spPr>
          <a:xfrm>
            <a:off x="571500" y="1974949"/>
            <a:ext cx="285750" cy="247650"/>
          </a:xfrm>
          <a:prstGeom prst="rect">
            <a:avLst/>
          </a:prstGeom>
          <a:noFill/>
          <a:ln>
            <a:noFill/>
          </a:ln>
        </p:spPr>
      </p:pic>
      <p:pic>
        <p:nvPicPr>
          <p:cNvPr id="131" name="Google Shape;131;p18" descr="image.png"/>
          <p:cNvPicPr preferRelativeResize="0"/>
          <p:nvPr/>
        </p:nvPicPr>
        <p:blipFill rotWithShape="1">
          <a:blip r:embed="rId7">
            <a:alphaModFix/>
          </a:blip>
          <a:srcRect/>
          <a:stretch/>
        </p:blipFill>
        <p:spPr>
          <a:xfrm>
            <a:off x="571500" y="3296691"/>
            <a:ext cx="228600" cy="247650"/>
          </a:xfrm>
          <a:prstGeom prst="rect">
            <a:avLst/>
          </a:prstGeom>
          <a:noFill/>
          <a:ln>
            <a:noFill/>
          </a:ln>
        </p:spPr>
      </p:pic>
      <p:pic>
        <p:nvPicPr>
          <p:cNvPr id="132" name="Google Shape;132;p18" descr="image.png"/>
          <p:cNvPicPr preferRelativeResize="0"/>
          <p:nvPr/>
        </p:nvPicPr>
        <p:blipFill rotWithShape="1">
          <a:blip r:embed="rId8">
            <a:alphaModFix/>
          </a:blip>
          <a:srcRect/>
          <a:stretch/>
        </p:blipFill>
        <p:spPr>
          <a:xfrm>
            <a:off x="571500" y="4618434"/>
            <a:ext cx="228600" cy="247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136"/>
        <p:cNvGrpSpPr/>
        <p:nvPr/>
      </p:nvGrpSpPr>
      <p:grpSpPr>
        <a:xfrm>
          <a:off x="0" y="0"/>
          <a:ext cx="0" cy="0"/>
          <a:chOff x="0" y="0"/>
          <a:chExt cx="0" cy="0"/>
        </a:xfrm>
      </p:grpSpPr>
      <p:pic>
        <p:nvPicPr>
          <p:cNvPr id="137" name="Google Shape;137;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8" name="Google Shape;138;p19"/>
          <p:cNvSpPr txBox="1"/>
          <p:nvPr/>
        </p:nvSpPr>
        <p:spPr>
          <a:xfrm>
            <a:off x="1009650" y="1611213"/>
            <a:ext cx="4800600" cy="108361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818CF8"/>
                </a:solidFill>
                <a:latin typeface="Inter SemiBold"/>
                <a:ea typeface="Inter SemiBold"/>
                <a:cs typeface="Inter SemiBold"/>
                <a:sym typeface="Inter SemiBold"/>
              </a:rPr>
              <a:t>Devlet Şeffaflık Portalları</a:t>
            </a:r>
            <a:r>
              <a:rPr lang="en-US" sz="1650" b="0" i="0" u="none" strike="noStrike" cap="none">
                <a:solidFill>
                  <a:srgbClr val="F8FAFC"/>
                </a:solidFill>
                <a:latin typeface="Inter"/>
                <a:ea typeface="Inter"/>
                <a:cs typeface="Inter"/>
                <a:sym typeface="Inter"/>
              </a:rPr>
              <a:t> data.gov ve İBB Açık Veri gibi portallar, analizler için güvenilir, güncel ve yasal bir temel sağlar.</a:t>
            </a:r>
            <a:endParaRPr/>
          </a:p>
        </p:txBody>
      </p:sp>
      <p:sp>
        <p:nvSpPr>
          <p:cNvPr id="139" name="Google Shape;139;p19"/>
          <p:cNvSpPr txBox="1"/>
          <p:nvPr/>
        </p:nvSpPr>
        <p:spPr>
          <a:xfrm>
            <a:off x="1009650" y="2932955"/>
            <a:ext cx="4800600" cy="141877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818CF8"/>
                </a:solidFill>
                <a:latin typeface="Inter SemiBold"/>
                <a:ea typeface="Inter SemiBold"/>
                <a:cs typeface="Inter SemiBold"/>
                <a:sym typeface="Inter SemiBold"/>
              </a:rPr>
              <a:t>Akademik Kaynaklar</a:t>
            </a:r>
            <a:r>
              <a:rPr lang="en-US" sz="1650" b="0" i="0" u="none" strike="noStrike" cap="none">
                <a:solidFill>
                  <a:srgbClr val="F8FAFC"/>
                </a:solidFill>
                <a:latin typeface="Inter"/>
                <a:ea typeface="Inter"/>
                <a:cs typeface="Inter"/>
                <a:sym typeface="Inter"/>
              </a:rPr>
              <a:t> Google Dataset Search ve küresel üniversite ağları üzerinden doğrulanmış verilere erişim imkanı sunar.</a:t>
            </a:r>
            <a:endParaRPr/>
          </a:p>
        </p:txBody>
      </p:sp>
      <p:sp>
        <p:nvSpPr>
          <p:cNvPr id="140" name="Google Shape;140;p19"/>
          <p:cNvSpPr txBox="1"/>
          <p:nvPr/>
        </p:nvSpPr>
        <p:spPr>
          <a:xfrm>
            <a:off x="1009650" y="4589859"/>
            <a:ext cx="4800600" cy="141877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818CF8"/>
                </a:solidFill>
                <a:latin typeface="Inter SemiBold"/>
                <a:ea typeface="Inter SemiBold"/>
                <a:cs typeface="Inter SemiBold"/>
                <a:sym typeface="Inter SemiBold"/>
              </a:rPr>
              <a:t>Temiz Veri Önceliği</a:t>
            </a:r>
            <a:r>
              <a:rPr lang="en-US" sz="1650" b="0" i="0" u="none" strike="noStrike" cap="none">
                <a:solidFill>
                  <a:srgbClr val="F8FAFC"/>
                </a:solidFill>
                <a:latin typeface="Inter"/>
                <a:ea typeface="Inter"/>
                <a:cs typeface="Inter"/>
                <a:sym typeface="Inter"/>
              </a:rPr>
              <a:t> Tekerleği yeniden icat etmeyin; yüksek kaliteli ve "temiz" veri arayan veri bilimciler için ilk durak bu platformlar olmalıdır.</a:t>
            </a:r>
            <a:endParaRPr/>
          </a:p>
        </p:txBody>
      </p:sp>
      <p:pic>
        <p:nvPicPr>
          <p:cNvPr id="141" name="Google Shape;141;p19" descr="image.png"/>
          <p:cNvPicPr preferRelativeResize="0"/>
          <p:nvPr/>
        </p:nvPicPr>
        <p:blipFill rotWithShape="1">
          <a:blip r:embed="rId4">
            <a:alphaModFix/>
          </a:blip>
          <a:srcRect/>
          <a:stretch/>
        </p:blipFill>
        <p:spPr>
          <a:xfrm>
            <a:off x="581025" y="1639788"/>
            <a:ext cx="228600" cy="247650"/>
          </a:xfrm>
          <a:prstGeom prst="rect">
            <a:avLst/>
          </a:prstGeom>
          <a:noFill/>
          <a:ln>
            <a:noFill/>
          </a:ln>
        </p:spPr>
      </p:pic>
      <p:pic>
        <p:nvPicPr>
          <p:cNvPr id="142" name="Google Shape;142;p19" descr="image.png"/>
          <p:cNvPicPr preferRelativeResize="0"/>
          <p:nvPr/>
        </p:nvPicPr>
        <p:blipFill rotWithShape="1">
          <a:blip r:embed="rId5">
            <a:alphaModFix/>
          </a:blip>
          <a:srcRect/>
          <a:stretch/>
        </p:blipFill>
        <p:spPr>
          <a:xfrm>
            <a:off x="581025" y="2961530"/>
            <a:ext cx="285750" cy="247650"/>
          </a:xfrm>
          <a:prstGeom prst="rect">
            <a:avLst/>
          </a:prstGeom>
          <a:noFill/>
          <a:ln>
            <a:noFill/>
          </a:ln>
        </p:spPr>
      </p:pic>
      <p:pic>
        <p:nvPicPr>
          <p:cNvPr id="143" name="Google Shape;143;p19" descr="image.png"/>
          <p:cNvPicPr preferRelativeResize="0"/>
          <p:nvPr/>
        </p:nvPicPr>
        <p:blipFill rotWithShape="1">
          <a:blip r:embed="rId6">
            <a:alphaModFix/>
          </a:blip>
          <a:srcRect/>
          <a:stretch/>
        </p:blipFill>
        <p:spPr>
          <a:xfrm>
            <a:off x="581025" y="4618434"/>
            <a:ext cx="228600" cy="247650"/>
          </a:xfrm>
          <a:prstGeom prst="rect">
            <a:avLst/>
          </a:prstGeom>
          <a:noFill/>
          <a:ln>
            <a:noFill/>
          </a:ln>
        </p:spPr>
      </p:pic>
      <p:sp>
        <p:nvSpPr>
          <p:cNvPr id="144" name="Google Shape;144;p19"/>
          <p:cNvSpPr txBox="1"/>
          <p:nvPr/>
        </p:nvSpPr>
        <p:spPr>
          <a:xfrm>
            <a:off x="581025" y="581025"/>
            <a:ext cx="11581447"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0EA5E9"/>
                </a:solidFill>
                <a:latin typeface="Poppins SemiBold"/>
                <a:ea typeface="Poppins SemiBold"/>
                <a:cs typeface="Poppins SemiBold"/>
                <a:sym typeface="Poppins SemiBold"/>
              </a:rPr>
              <a:t>Açık Veri ve Akademik/Sektörel Setler</a:t>
            </a:r>
            <a:endParaRPr/>
          </a:p>
        </p:txBody>
      </p:sp>
      <p:pic>
        <p:nvPicPr>
          <p:cNvPr id="145" name="Google Shape;145;p19" descr="Three monumental, glowing digital archways made of light and glass, standing in a virtual landscape. The arches are labeled with glowing text: &quot;GOVERNMENT DATA&quot;, &quot;UNIVERSITY RESEARCH&quot;, and &quot;INTERNATIONAL ORGANIZATIONS&quot;. Through the arches, endless rows of organized, glowing digital libraries and data archives are visible. Clean, grand, inviting futuristic architecture."/>
          <p:cNvPicPr preferRelativeResize="0"/>
          <p:nvPr/>
        </p:nvPicPr>
        <p:blipFill>
          <a:blip r:embed="rId7">
            <a:alphaModFix/>
          </a:blip>
          <a:stretch>
            <a:fillRect/>
          </a:stretch>
        </p:blipFill>
        <p:spPr>
          <a:xfrm>
            <a:off x="6944225" y="1391088"/>
            <a:ext cx="4502500" cy="4502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149"/>
        <p:cNvGrpSpPr/>
        <p:nvPr/>
      </p:nvGrpSpPr>
      <p:grpSpPr>
        <a:xfrm>
          <a:off x="0" y="0"/>
          <a:ext cx="0" cy="0"/>
          <a:chOff x="0" y="0"/>
          <a:chExt cx="0" cy="0"/>
        </a:xfrm>
      </p:grpSpPr>
      <p:pic>
        <p:nvPicPr>
          <p:cNvPr id="150" name="Google Shape;150;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1" name="Google Shape;151;p20"/>
          <p:cNvSpPr txBox="1"/>
          <p:nvPr/>
        </p:nvSpPr>
        <p:spPr>
          <a:xfrm>
            <a:off x="1009650" y="1611213"/>
            <a:ext cx="4800600" cy="108361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818CF8"/>
                </a:solidFill>
                <a:latin typeface="Inter SemiBold"/>
                <a:ea typeface="Inter SemiBold"/>
                <a:cs typeface="Inter SemiBold"/>
                <a:sym typeface="Inter SemiBold"/>
              </a:rPr>
              <a:t>Küresel Buluşma Noktaları</a:t>
            </a:r>
            <a:r>
              <a:rPr lang="en-US" sz="1650" b="0" i="0" u="none" strike="noStrike" cap="none">
                <a:solidFill>
                  <a:srgbClr val="F8FAFC"/>
                </a:solidFill>
                <a:latin typeface="Inter"/>
                <a:ea typeface="Inter"/>
                <a:cs typeface="Inter"/>
                <a:sym typeface="Inter"/>
              </a:rPr>
              <a:t> Eskiden zor ulaşılan veriler, günümüzde devasa açık kaynak platformlarında birleşmiştir.</a:t>
            </a:r>
            <a:endParaRPr/>
          </a:p>
        </p:txBody>
      </p:sp>
      <p:sp>
        <p:nvSpPr>
          <p:cNvPr id="152" name="Google Shape;152;p20"/>
          <p:cNvSpPr txBox="1"/>
          <p:nvPr/>
        </p:nvSpPr>
        <p:spPr>
          <a:xfrm>
            <a:off x="1009650" y="3022080"/>
            <a:ext cx="4800600" cy="1066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818CF8"/>
                </a:solidFill>
                <a:latin typeface="Inter SemiBold"/>
                <a:ea typeface="Inter SemiBold"/>
                <a:cs typeface="Inter SemiBold"/>
                <a:sym typeface="Inter SemiBold"/>
              </a:rPr>
              <a:t>Paylaşım Kültürü</a:t>
            </a:r>
            <a:r>
              <a:rPr lang="en-US" sz="1650" b="0" i="0" u="none" strike="noStrike" cap="none">
                <a:solidFill>
                  <a:srgbClr val="F8FAFC"/>
                </a:solidFill>
                <a:latin typeface="Inter"/>
                <a:ea typeface="Inter"/>
                <a:cs typeface="Inter"/>
                <a:sym typeface="Inter"/>
              </a:rPr>
              <a:t> Bu platformlar sadece ham veri seti değil; kod, model ve vizyoner fikir paylaşımına da ev sahipliği yapar.</a:t>
            </a:r>
            <a:endParaRPr/>
          </a:p>
        </p:txBody>
      </p:sp>
      <p:sp>
        <p:nvSpPr>
          <p:cNvPr id="153" name="Google Shape;153;p20"/>
          <p:cNvSpPr txBox="1"/>
          <p:nvPr/>
        </p:nvSpPr>
        <p:spPr>
          <a:xfrm>
            <a:off x="1009650" y="4589859"/>
            <a:ext cx="4800600" cy="141877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818CF8"/>
                </a:solidFill>
                <a:latin typeface="Inter SemiBold"/>
                <a:ea typeface="Inter SemiBold"/>
                <a:cs typeface="Inter SemiBold"/>
                <a:sym typeface="Inter SemiBold"/>
              </a:rPr>
              <a:t>Devler Arenası</a:t>
            </a:r>
            <a:r>
              <a:rPr lang="en-US" sz="1650" b="0" i="0" u="none" strike="noStrike" cap="none">
                <a:solidFill>
                  <a:srgbClr val="F8FAFC"/>
                </a:solidFill>
                <a:latin typeface="Inter"/>
                <a:ea typeface="Inter"/>
                <a:cs typeface="Inter"/>
                <a:sym typeface="Inter"/>
              </a:rPr>
              <a:t> Ekosistemi şekillendiren iki büyük güç öne çıkmaktadır: Veri biliminin okulu Kaggle ve yapay zekanın GitHub'ı Hugging Face.</a:t>
            </a:r>
            <a:endParaRPr/>
          </a:p>
        </p:txBody>
      </p:sp>
      <p:pic>
        <p:nvPicPr>
          <p:cNvPr id="154" name="Google Shape;154;p20" descr="image.png"/>
          <p:cNvPicPr preferRelativeResize="0"/>
          <p:nvPr/>
        </p:nvPicPr>
        <p:blipFill rotWithShape="1">
          <a:blip r:embed="rId4">
            <a:alphaModFix/>
          </a:blip>
          <a:srcRect/>
          <a:stretch/>
        </p:blipFill>
        <p:spPr>
          <a:xfrm>
            <a:off x="581025" y="1639788"/>
            <a:ext cx="285750" cy="247650"/>
          </a:xfrm>
          <a:prstGeom prst="rect">
            <a:avLst/>
          </a:prstGeom>
          <a:noFill/>
          <a:ln>
            <a:noFill/>
          </a:ln>
        </p:spPr>
      </p:pic>
      <p:pic>
        <p:nvPicPr>
          <p:cNvPr id="155" name="Google Shape;155;p20" descr="image.png"/>
          <p:cNvPicPr preferRelativeResize="0"/>
          <p:nvPr/>
        </p:nvPicPr>
        <p:blipFill rotWithShape="1">
          <a:blip r:embed="rId5">
            <a:alphaModFix/>
          </a:blip>
          <a:srcRect/>
          <a:stretch/>
        </p:blipFill>
        <p:spPr>
          <a:xfrm>
            <a:off x="581025" y="3050655"/>
            <a:ext cx="200025" cy="247650"/>
          </a:xfrm>
          <a:prstGeom prst="rect">
            <a:avLst/>
          </a:prstGeom>
          <a:noFill/>
          <a:ln>
            <a:noFill/>
          </a:ln>
        </p:spPr>
      </p:pic>
      <p:pic>
        <p:nvPicPr>
          <p:cNvPr id="156" name="Google Shape;156;p20" descr="image.png"/>
          <p:cNvPicPr preferRelativeResize="0"/>
          <p:nvPr/>
        </p:nvPicPr>
        <p:blipFill rotWithShape="1">
          <a:blip r:embed="rId6">
            <a:alphaModFix/>
          </a:blip>
          <a:srcRect/>
          <a:stretch/>
        </p:blipFill>
        <p:spPr>
          <a:xfrm>
            <a:off x="581025" y="4618434"/>
            <a:ext cx="200025" cy="247650"/>
          </a:xfrm>
          <a:prstGeom prst="rect">
            <a:avLst/>
          </a:prstGeom>
          <a:noFill/>
          <a:ln>
            <a:noFill/>
          </a:ln>
        </p:spPr>
      </p:pic>
      <p:sp>
        <p:nvSpPr>
          <p:cNvPr id="157" name="Google Shape;157;p20"/>
          <p:cNvSpPr txBox="1"/>
          <p:nvPr/>
        </p:nvSpPr>
        <p:spPr>
          <a:xfrm>
            <a:off x="581025" y="581025"/>
            <a:ext cx="11581447"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0EA5E9"/>
                </a:solidFill>
                <a:latin typeface="Poppins SemiBold"/>
                <a:ea typeface="Poppins SemiBold"/>
                <a:cs typeface="Poppins SemiBold"/>
                <a:sym typeface="Poppins SemiBold"/>
              </a:rPr>
              <a:t>Veri Platformları Dünyasına Giriş</a:t>
            </a:r>
            <a:endParaRPr/>
          </a:p>
        </p:txBody>
      </p:sp>
      <p:pic>
        <p:nvPicPr>
          <p:cNvPr id="158" name="Google Shape;158;p20" descr="A split-screen comparison. Left side: A dimly lit, dusty, classic wooden library with tall shelves filled with old, physical books. Right side: A massive, brightly lit futuristic server room data center with infinite rows of glowing blue server racks and holographic data interfaces. Contrast between analog and digital eras."/>
          <p:cNvPicPr preferRelativeResize="0"/>
          <p:nvPr/>
        </p:nvPicPr>
        <p:blipFill>
          <a:blip r:embed="rId7">
            <a:alphaModFix/>
          </a:blip>
          <a:stretch>
            <a:fillRect/>
          </a:stretch>
        </p:blipFill>
        <p:spPr>
          <a:xfrm>
            <a:off x="6660400" y="1316225"/>
            <a:ext cx="4876800" cy="4876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162"/>
        <p:cNvGrpSpPr/>
        <p:nvPr/>
      </p:nvGrpSpPr>
      <p:grpSpPr>
        <a:xfrm>
          <a:off x="0" y="0"/>
          <a:ext cx="0" cy="0"/>
          <a:chOff x="0" y="0"/>
          <a:chExt cx="0" cy="0"/>
        </a:xfrm>
      </p:grpSpPr>
      <p:sp>
        <p:nvSpPr>
          <p:cNvPr id="163" name="Google Shape;163;p21"/>
          <p:cNvSpPr txBox="1"/>
          <p:nvPr/>
        </p:nvSpPr>
        <p:spPr>
          <a:xfrm>
            <a:off x="571500" y="379225"/>
            <a:ext cx="5200800" cy="1015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0EA5E9"/>
                </a:solidFill>
                <a:latin typeface="Poppins SemiBold"/>
                <a:ea typeface="Poppins SemiBold"/>
                <a:cs typeface="Poppins SemiBold"/>
                <a:sym typeface="Poppins SemiBold"/>
              </a:rPr>
              <a:t>Kaggle: Veri Bilimcilerin Oyun Alanı</a:t>
            </a:r>
            <a:endParaRPr/>
          </a:p>
        </p:txBody>
      </p:sp>
      <p:sp>
        <p:nvSpPr>
          <p:cNvPr id="164" name="Google Shape;164;p21"/>
          <p:cNvSpPr txBox="1"/>
          <p:nvPr/>
        </p:nvSpPr>
        <p:spPr>
          <a:xfrm>
            <a:off x="909750" y="1860379"/>
            <a:ext cx="4524300" cy="1066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818CF8"/>
                </a:solidFill>
                <a:latin typeface="Inter SemiBold"/>
                <a:ea typeface="Inter SemiBold"/>
                <a:cs typeface="Inter SemiBold"/>
                <a:sym typeface="Inter SemiBold"/>
              </a:rPr>
              <a:t>Datasets (Veri Setleri)</a:t>
            </a:r>
            <a:r>
              <a:rPr lang="en-US" sz="1650" b="0" i="0" u="none" strike="noStrike" cap="none">
                <a:solidFill>
                  <a:srgbClr val="F8FAFC"/>
                </a:solidFill>
                <a:latin typeface="Inter"/>
                <a:ea typeface="Inter"/>
                <a:cs typeface="Inter"/>
                <a:sym typeface="Inter"/>
              </a:rPr>
              <a:t> Çeşitli senaryolara hazır, temizlenmiş ve düzenlenmiş binlerce açık kaynak veri seti içerir.</a:t>
            </a:r>
            <a:endParaRPr/>
          </a:p>
        </p:txBody>
      </p:sp>
      <p:sp>
        <p:nvSpPr>
          <p:cNvPr id="165" name="Google Shape;165;p21"/>
          <p:cNvSpPr txBox="1"/>
          <p:nvPr/>
        </p:nvSpPr>
        <p:spPr>
          <a:xfrm>
            <a:off x="909750" y="3175009"/>
            <a:ext cx="4524300" cy="1066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818CF8"/>
                </a:solidFill>
                <a:latin typeface="Inter SemiBold"/>
                <a:ea typeface="Inter SemiBold"/>
                <a:cs typeface="Inter SemiBold"/>
                <a:sym typeface="Inter SemiBold"/>
              </a:rPr>
              <a:t>Notebooks</a:t>
            </a:r>
            <a:r>
              <a:rPr lang="en-US" sz="1650" b="0" i="0" u="none" strike="noStrike" cap="none">
                <a:solidFill>
                  <a:srgbClr val="F8FAFC"/>
                </a:solidFill>
                <a:latin typeface="Inter"/>
                <a:ea typeface="Inter"/>
                <a:cs typeface="Inter"/>
                <a:sym typeface="Inter"/>
              </a:rPr>
              <a:t> Başkalarının yazdığı kodları okuyup çalıştırabileceğiniz, bulut tabanlı öğrenme ortamı sağlar.</a:t>
            </a:r>
            <a:endParaRPr/>
          </a:p>
        </p:txBody>
      </p:sp>
      <p:sp>
        <p:nvSpPr>
          <p:cNvPr id="166" name="Google Shape;166;p21"/>
          <p:cNvSpPr txBox="1"/>
          <p:nvPr/>
        </p:nvSpPr>
        <p:spPr>
          <a:xfrm>
            <a:off x="909750" y="4527543"/>
            <a:ext cx="4524300" cy="1066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818CF8"/>
                </a:solidFill>
                <a:latin typeface="Inter SemiBold"/>
                <a:ea typeface="Inter SemiBold"/>
                <a:cs typeface="Inter SemiBold"/>
                <a:sym typeface="Inter SemiBold"/>
              </a:rPr>
              <a:t>Competitions (Yarışmalar)</a:t>
            </a:r>
            <a:r>
              <a:rPr lang="en-US" sz="1650" b="0" i="0" u="none" strike="noStrike" cap="none">
                <a:solidFill>
                  <a:srgbClr val="F8FAFC"/>
                </a:solidFill>
                <a:latin typeface="Inter"/>
                <a:ea typeface="Inter"/>
                <a:cs typeface="Inter"/>
                <a:sym typeface="Inter"/>
              </a:rPr>
              <a:t> Gerçek dünya şirketlerinin düzenlediği, büyük ödüllü makine öğrenimi yarışmalarına katılma şansı sunar.</a:t>
            </a:r>
            <a:endParaRPr/>
          </a:p>
        </p:txBody>
      </p:sp>
      <p:pic>
        <p:nvPicPr>
          <p:cNvPr id="167" name="Google Shape;167;p21" descr="A futuristic digital e-sports arena or stadium. In the center field, a large glowing Kaggle logo. Holographic screens around the arena display &quot;DATASETS&quot;, &quot;NOTEBOOKS&quot;, and leaderboards with &quot;COMPETITIONS&quot;. Avatars of data scientists are collaborating in the stands with laptops. High energy technology vibe, neon lights."/>
          <p:cNvPicPr preferRelativeResize="0"/>
          <p:nvPr/>
        </p:nvPicPr>
        <p:blipFill>
          <a:blip r:embed="rId3">
            <a:alphaModFix/>
          </a:blip>
          <a:stretch>
            <a:fillRect/>
          </a:stretch>
        </p:blipFill>
        <p:spPr>
          <a:xfrm>
            <a:off x="6016500" y="2106113"/>
            <a:ext cx="5825100" cy="324248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p22" descr="Beautify this slide"/>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76"/>
        <p:cNvGrpSpPr/>
        <p:nvPr/>
      </p:nvGrpSpPr>
      <p:grpSpPr>
        <a:xfrm>
          <a:off x="0" y="0"/>
          <a:ext cx="0" cy="0"/>
          <a:chOff x="0" y="0"/>
          <a:chExt cx="0" cy="0"/>
        </a:xfrm>
      </p:grpSpPr>
      <p:pic>
        <p:nvPicPr>
          <p:cNvPr id="177" name="Google Shape;177;p23" descr="image.png"/>
          <p:cNvPicPr preferRelativeResize="0"/>
          <p:nvPr/>
        </p:nvPicPr>
        <p:blipFill rotWithShape="1">
          <a:blip r:embed="rId3">
            <a:alphaModFix/>
          </a:blip>
          <a:srcRect/>
          <a:stretch/>
        </p:blipFill>
        <p:spPr>
          <a:xfrm>
            <a:off x="6381750" y="1988790"/>
            <a:ext cx="5238750" cy="3810000"/>
          </a:xfrm>
          <a:prstGeom prst="rect">
            <a:avLst/>
          </a:prstGeom>
          <a:noFill/>
          <a:ln>
            <a:noFill/>
          </a:ln>
        </p:spPr>
      </p:pic>
      <p:pic>
        <p:nvPicPr>
          <p:cNvPr id="178" name="Google Shape;178;p23" descr="image.png"/>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179" name="Google Shape;179;p23"/>
          <p:cNvSpPr txBox="1"/>
          <p:nvPr/>
        </p:nvSpPr>
        <p:spPr>
          <a:xfrm>
            <a:off x="914400" y="2084040"/>
            <a:ext cx="48960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Web Scraping Nedir?</a:t>
            </a:r>
            <a:r>
              <a:rPr lang="en-US" sz="1500" b="0" i="0" u="none" strike="noStrike" cap="none">
                <a:solidFill>
                  <a:srgbClr val="D4D4D4"/>
                </a:solidFill>
                <a:latin typeface="Inter"/>
                <a:ea typeface="Inter"/>
                <a:cs typeface="Inter"/>
                <a:sym typeface="Inter"/>
              </a:rPr>
              <a:t> İnterneti, kopyalanmaya hazır devasa bir veritabanı olarak kullanma sanatıdır.</a:t>
            </a:r>
            <a:endParaRPr/>
          </a:p>
        </p:txBody>
      </p:sp>
      <p:sp>
        <p:nvSpPr>
          <p:cNvPr id="180" name="Google Shape;180;p23"/>
          <p:cNvSpPr txBox="1"/>
          <p:nvPr/>
        </p:nvSpPr>
        <p:spPr>
          <a:xfrm>
            <a:off x="914400" y="3265140"/>
            <a:ext cx="48960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Otomasyonun Gücü</a:t>
            </a:r>
            <a:r>
              <a:rPr lang="en-US" sz="1500" b="0" i="0" u="none" strike="noStrike" cap="none">
                <a:solidFill>
                  <a:srgbClr val="D4D4D4"/>
                </a:solidFill>
                <a:latin typeface="Inter"/>
                <a:ea typeface="Inter"/>
                <a:cs typeface="Inter"/>
                <a:sym typeface="Inter"/>
              </a:rPr>
              <a:t> Kopyala-yapıştır ile aylar sürecek işi, kod ile dakikalar içinde yüzlerce sayfadan veri çekerek çözmek.</a:t>
            </a:r>
            <a:endParaRPr/>
          </a:p>
        </p:txBody>
      </p:sp>
      <p:sp>
        <p:nvSpPr>
          <p:cNvPr id="181" name="Google Shape;181;p23"/>
          <p:cNvSpPr txBox="1"/>
          <p:nvPr/>
        </p:nvSpPr>
        <p:spPr>
          <a:xfrm>
            <a:off x="914400" y="4446240"/>
            <a:ext cx="48960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Neden İhtiyacımız Var?</a:t>
            </a:r>
            <a:r>
              <a:rPr lang="en-US" sz="1500" b="0" i="0" u="none" strike="noStrike" cap="none">
                <a:solidFill>
                  <a:srgbClr val="D4D4D4"/>
                </a:solidFill>
                <a:latin typeface="Inter"/>
                <a:ea typeface="Inter"/>
                <a:cs typeface="Inter"/>
                <a:sym typeface="Inter"/>
              </a:rPr>
              <a:t> Rakip analizi, anlık fiyat takibi ve en önemlisi yeni nesil Büyük Dil Modellerinin (LLM) eğitimi için vazgeçilmezdir.</a:t>
            </a:r>
            <a:endParaRPr/>
          </a:p>
        </p:txBody>
      </p:sp>
      <p:pic>
        <p:nvPicPr>
          <p:cNvPr id="182" name="Google Shape;182;p23" descr="image.png"/>
          <p:cNvPicPr preferRelativeResize="0"/>
          <p:nvPr/>
        </p:nvPicPr>
        <p:blipFill rotWithShape="1">
          <a:blip r:embed="rId5">
            <a:alphaModFix/>
          </a:blip>
          <a:srcRect/>
          <a:stretch/>
        </p:blipFill>
        <p:spPr>
          <a:xfrm>
            <a:off x="6391275" y="1998315"/>
            <a:ext cx="5219699" cy="3790950"/>
          </a:xfrm>
          <a:prstGeom prst="rect">
            <a:avLst/>
          </a:prstGeom>
          <a:noFill/>
          <a:ln>
            <a:noFill/>
          </a:ln>
        </p:spPr>
      </p:pic>
      <p:sp>
        <p:nvSpPr>
          <p:cNvPr id="183" name="Google Shape;183;p23"/>
          <p:cNvSpPr txBox="1"/>
          <p:nvPr/>
        </p:nvSpPr>
        <p:spPr>
          <a:xfrm>
            <a:off x="571500" y="571500"/>
            <a:ext cx="11601600" cy="554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FFFFFF"/>
                </a:solidFill>
                <a:latin typeface="Urbanist"/>
                <a:ea typeface="Urbanist"/>
                <a:cs typeface="Urbanist"/>
                <a:sym typeface="Urbanist"/>
              </a:rPr>
              <a:t>Web Üzerinden Veri Avı</a:t>
            </a:r>
            <a:endParaRPr/>
          </a:p>
        </p:txBody>
      </p:sp>
      <p:pic>
        <p:nvPicPr>
          <p:cNvPr id="184" name="Google Shape;184;p23" descr="image.png"/>
          <p:cNvPicPr preferRelativeResize="0"/>
          <p:nvPr/>
        </p:nvPicPr>
        <p:blipFill rotWithShape="1">
          <a:blip r:embed="rId6">
            <a:alphaModFix/>
          </a:blip>
          <a:srcRect/>
          <a:stretch/>
        </p:blipFill>
        <p:spPr>
          <a:xfrm>
            <a:off x="571500" y="2122140"/>
            <a:ext cx="95250" cy="200025"/>
          </a:xfrm>
          <a:prstGeom prst="rect">
            <a:avLst/>
          </a:prstGeom>
          <a:noFill/>
          <a:ln>
            <a:noFill/>
          </a:ln>
        </p:spPr>
      </p:pic>
      <p:pic>
        <p:nvPicPr>
          <p:cNvPr id="185" name="Google Shape;185;p23" descr="image.png"/>
          <p:cNvPicPr preferRelativeResize="0"/>
          <p:nvPr/>
        </p:nvPicPr>
        <p:blipFill rotWithShape="1">
          <a:blip r:embed="rId6">
            <a:alphaModFix/>
          </a:blip>
          <a:srcRect/>
          <a:stretch/>
        </p:blipFill>
        <p:spPr>
          <a:xfrm>
            <a:off x="571500" y="3303240"/>
            <a:ext cx="95250" cy="200025"/>
          </a:xfrm>
          <a:prstGeom prst="rect">
            <a:avLst/>
          </a:prstGeom>
          <a:noFill/>
          <a:ln>
            <a:noFill/>
          </a:ln>
        </p:spPr>
      </p:pic>
      <p:pic>
        <p:nvPicPr>
          <p:cNvPr id="186" name="Google Shape;186;p23" descr="image.png"/>
          <p:cNvPicPr preferRelativeResize="0"/>
          <p:nvPr/>
        </p:nvPicPr>
        <p:blipFill rotWithShape="1">
          <a:blip r:embed="rId6">
            <a:alphaModFix/>
          </a:blip>
          <a:srcRect/>
          <a:stretch/>
        </p:blipFill>
        <p:spPr>
          <a:xfrm>
            <a:off x="571500" y="4484340"/>
            <a:ext cx="95250" cy="200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pic>
        <p:nvPicPr>
          <p:cNvPr id="191" name="Google Shape;191;p24" descr="Beautify this slide"/>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95"/>
        <p:cNvGrpSpPr/>
        <p:nvPr/>
      </p:nvGrpSpPr>
      <p:grpSpPr>
        <a:xfrm>
          <a:off x="0" y="0"/>
          <a:ext cx="0" cy="0"/>
          <a:chOff x="0" y="0"/>
          <a:chExt cx="0" cy="0"/>
        </a:xfrm>
      </p:grpSpPr>
      <p:pic>
        <p:nvPicPr>
          <p:cNvPr id="196" name="Google Shape;196;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7" name="Google Shape;197;p25"/>
          <p:cNvSpPr txBox="1"/>
          <p:nvPr/>
        </p:nvSpPr>
        <p:spPr>
          <a:xfrm>
            <a:off x="571500" y="282100"/>
            <a:ext cx="5200800" cy="1219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FFFFFF"/>
                </a:solidFill>
                <a:latin typeface="Urbanist"/>
                <a:ea typeface="Urbanist"/>
                <a:cs typeface="Urbanist"/>
                <a:sym typeface="Urbanist"/>
              </a:rPr>
              <a:t>Geleneksel Scraping Sınırları</a:t>
            </a:r>
            <a:endParaRPr/>
          </a:p>
        </p:txBody>
      </p:sp>
      <p:pic>
        <p:nvPicPr>
          <p:cNvPr id="198" name="Google Shape;198;p25" descr="image.png"/>
          <p:cNvPicPr preferRelativeResize="0"/>
          <p:nvPr/>
        </p:nvPicPr>
        <p:blipFill rotWithShape="1">
          <a:blip r:embed="rId4">
            <a:alphaModFix/>
          </a:blip>
          <a:srcRect/>
          <a:stretch/>
        </p:blipFill>
        <p:spPr>
          <a:xfrm>
            <a:off x="6096000" y="0"/>
            <a:ext cx="6096000" cy="6858000"/>
          </a:xfrm>
          <a:prstGeom prst="rect">
            <a:avLst/>
          </a:prstGeom>
          <a:noFill/>
          <a:ln>
            <a:noFill/>
          </a:ln>
        </p:spPr>
      </p:pic>
      <p:sp>
        <p:nvSpPr>
          <p:cNvPr id="199" name="Google Shape;199;p25"/>
          <p:cNvSpPr txBox="1"/>
          <p:nvPr/>
        </p:nvSpPr>
        <p:spPr>
          <a:xfrm>
            <a:off x="571500" y="1733085"/>
            <a:ext cx="4953000" cy="1548900"/>
          </a:xfrm>
          <a:prstGeom prst="rect">
            <a:avLst/>
          </a:prstGeom>
          <a:noFill/>
          <a:ln>
            <a:noFill/>
          </a:ln>
        </p:spPr>
        <p:txBody>
          <a:bodyPr spcFirstLastPara="1" wrap="square" lIns="0" tIns="0" rIns="0" bIns="0" anchor="t" anchorCtr="0">
            <a:spAutoFit/>
          </a:bodyPr>
          <a:lstStyle/>
          <a:p>
            <a:pPr marL="0" marR="0" lvl="0" indent="0" algn="l" rtl="0">
              <a:lnSpc>
                <a:spcPct val="169939"/>
              </a:lnSpc>
              <a:spcBef>
                <a:spcPts val="0"/>
              </a:spcBef>
              <a:spcAft>
                <a:spcPts val="0"/>
              </a:spcAft>
              <a:buNone/>
            </a:pPr>
            <a:r>
              <a:rPr lang="en-US" sz="1650" b="1" i="0" u="none" strike="noStrike" cap="none">
                <a:solidFill>
                  <a:srgbClr val="FFFFFF"/>
                </a:solidFill>
                <a:latin typeface="Inter"/>
                <a:ea typeface="Inter"/>
                <a:cs typeface="Inter"/>
                <a:sym typeface="Inter"/>
              </a:rPr>
              <a:t>Sürekli Değişen Yapılar:</a:t>
            </a:r>
            <a:r>
              <a:rPr lang="en-US" sz="1650" b="0" i="0" u="none" strike="noStrike" cap="none">
                <a:solidFill>
                  <a:srgbClr val="D4D4D4"/>
                </a:solidFill>
                <a:latin typeface="Inter"/>
                <a:ea typeface="Inter"/>
                <a:cs typeface="Inter"/>
                <a:sym typeface="Inter"/>
              </a:rPr>
              <a:t> Web siteleri canlı organizmalardır. Tasarım güncellemeleri veya HTML sınıflarının değişmesi, yazdığınız scraping kodunun anında çökmesine neden olur.</a:t>
            </a:r>
            <a:endParaRPr/>
          </a:p>
        </p:txBody>
      </p:sp>
      <p:sp>
        <p:nvSpPr>
          <p:cNvPr id="200" name="Google Shape;200;p25"/>
          <p:cNvSpPr txBox="1"/>
          <p:nvPr/>
        </p:nvSpPr>
        <p:spPr>
          <a:xfrm>
            <a:off x="571500" y="3386268"/>
            <a:ext cx="4953000" cy="1548900"/>
          </a:xfrm>
          <a:prstGeom prst="rect">
            <a:avLst/>
          </a:prstGeom>
          <a:noFill/>
          <a:ln>
            <a:noFill/>
          </a:ln>
        </p:spPr>
        <p:txBody>
          <a:bodyPr spcFirstLastPara="1" wrap="square" lIns="0" tIns="0" rIns="0" bIns="0" anchor="t" anchorCtr="0">
            <a:spAutoFit/>
          </a:bodyPr>
          <a:lstStyle/>
          <a:p>
            <a:pPr marL="0" marR="0" lvl="0" indent="0" algn="l" rtl="0">
              <a:lnSpc>
                <a:spcPct val="169939"/>
              </a:lnSpc>
              <a:spcBef>
                <a:spcPts val="0"/>
              </a:spcBef>
              <a:spcAft>
                <a:spcPts val="0"/>
              </a:spcAft>
              <a:buNone/>
            </a:pPr>
            <a:r>
              <a:rPr lang="en-US" sz="1650" b="1" i="0" u="none" strike="noStrike" cap="none">
                <a:solidFill>
                  <a:srgbClr val="FFFFFF"/>
                </a:solidFill>
                <a:latin typeface="Inter"/>
                <a:ea typeface="Inter"/>
                <a:cs typeface="Inter"/>
                <a:sym typeface="Inter"/>
              </a:rPr>
              <a:t>Zaman Kaybı:</a:t>
            </a:r>
            <a:r>
              <a:rPr lang="en-US" sz="1650" b="0" i="0" u="none" strike="noStrike" cap="none">
                <a:solidFill>
                  <a:srgbClr val="D4D4D4"/>
                </a:solidFill>
                <a:latin typeface="Inter"/>
                <a:ea typeface="Inter"/>
                <a:cs typeface="Inter"/>
                <a:sym typeface="Inter"/>
              </a:rPr>
              <a:t> Karmaşık HTML yapılarının içinden reklamları, menüleri ve kod çöplerini ayıklayıp sadece "temiz veriyi" çıkarmak saatler süren manuel müdahaleler gerektirir.</a:t>
            </a:r>
            <a:endParaRPr/>
          </a:p>
        </p:txBody>
      </p:sp>
      <p:sp>
        <p:nvSpPr>
          <p:cNvPr id="201" name="Google Shape;201;p25"/>
          <p:cNvSpPr txBox="1"/>
          <p:nvPr/>
        </p:nvSpPr>
        <p:spPr>
          <a:xfrm>
            <a:off x="571500" y="5039451"/>
            <a:ext cx="4953000" cy="1548900"/>
          </a:xfrm>
          <a:prstGeom prst="rect">
            <a:avLst/>
          </a:prstGeom>
          <a:noFill/>
          <a:ln>
            <a:noFill/>
          </a:ln>
        </p:spPr>
        <p:txBody>
          <a:bodyPr spcFirstLastPara="1" wrap="square" lIns="0" tIns="0" rIns="0" bIns="0" anchor="t" anchorCtr="0">
            <a:spAutoFit/>
          </a:bodyPr>
          <a:lstStyle/>
          <a:p>
            <a:pPr marL="0" marR="0" lvl="0" indent="0" algn="l" rtl="0">
              <a:lnSpc>
                <a:spcPct val="169939"/>
              </a:lnSpc>
              <a:spcBef>
                <a:spcPts val="0"/>
              </a:spcBef>
              <a:spcAft>
                <a:spcPts val="0"/>
              </a:spcAft>
              <a:buNone/>
            </a:pPr>
            <a:r>
              <a:rPr lang="en-US" sz="1650" b="1" i="0" u="none" strike="noStrike" cap="none">
                <a:solidFill>
                  <a:srgbClr val="FFFFFF"/>
                </a:solidFill>
                <a:latin typeface="Inter"/>
                <a:ea typeface="Inter"/>
                <a:cs typeface="Inter"/>
                <a:sym typeface="Inter"/>
              </a:rPr>
              <a:t>Güvenlik Duvarları:</a:t>
            </a:r>
            <a:r>
              <a:rPr lang="en-US" sz="1650" b="0" i="0" u="none" strike="noStrike" cap="none">
                <a:solidFill>
                  <a:srgbClr val="D4D4D4"/>
                </a:solidFill>
                <a:latin typeface="Inter"/>
                <a:ea typeface="Inter"/>
                <a:cs typeface="Inter"/>
                <a:sym typeface="Inter"/>
              </a:rPr>
              <a:t> Modern web siteleri, bot trafiğini engellemek için gelişmiş CAPTCHA'lar ve IP ban sistemleri kullanır. Geleneksel yöntemler bu engellere kolayca takılır.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pic>
        <p:nvPicPr>
          <p:cNvPr id="206" name="Google Shape;206;p26" descr="Beautify this slide"/>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10"/>
        <p:cNvGrpSpPr/>
        <p:nvPr/>
      </p:nvGrpSpPr>
      <p:grpSpPr>
        <a:xfrm>
          <a:off x="0" y="0"/>
          <a:ext cx="0" cy="0"/>
          <a:chOff x="0" y="0"/>
          <a:chExt cx="0" cy="0"/>
        </a:xfrm>
      </p:grpSpPr>
      <p:pic>
        <p:nvPicPr>
          <p:cNvPr id="211" name="Google Shape;211;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2" name="Google Shape;212;p27"/>
          <p:cNvSpPr txBox="1"/>
          <p:nvPr/>
        </p:nvSpPr>
        <p:spPr>
          <a:xfrm>
            <a:off x="914400" y="1779240"/>
            <a:ext cx="4896000" cy="133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Yeni Nesil Platform</a:t>
            </a:r>
            <a:r>
              <a:rPr lang="en-US" sz="1500" b="0" i="0" u="none" strike="noStrike" cap="none">
                <a:solidFill>
                  <a:srgbClr val="D4D4D4"/>
                </a:solidFill>
                <a:latin typeface="Inter"/>
                <a:ea typeface="Inter"/>
                <a:cs typeface="Inter"/>
                <a:sym typeface="Inter"/>
              </a:rPr>
              <a:t> Özellikle RAG (Retrieval-Augmented Generation) sistemleri ve LLM'ler için tasarlanmış gelişmiş web scraping API'sidir.</a:t>
            </a:r>
            <a:endParaRPr/>
          </a:p>
        </p:txBody>
      </p:sp>
      <p:sp>
        <p:nvSpPr>
          <p:cNvPr id="213" name="Google Shape;213;p27"/>
          <p:cNvSpPr txBox="1"/>
          <p:nvPr/>
        </p:nvSpPr>
        <p:spPr>
          <a:xfrm>
            <a:off x="914400" y="3365665"/>
            <a:ext cx="48960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Anında Markdown Çıktısı</a:t>
            </a:r>
            <a:r>
              <a:rPr lang="en-US" sz="1500" b="0" i="0" u="none" strike="noStrike" cap="none">
                <a:solidFill>
                  <a:srgbClr val="D4D4D4"/>
                </a:solidFill>
                <a:latin typeface="Inter"/>
                <a:ea typeface="Inter"/>
                <a:cs typeface="Inter"/>
                <a:sym typeface="Inter"/>
              </a:rPr>
              <a:t> Karmaşık siteleri saniyeler içinde, yapay zekanın en sevdiği format olan tertemiz bir Markdown belgesine dönüştürür.</a:t>
            </a:r>
            <a:endParaRPr/>
          </a:p>
        </p:txBody>
      </p:sp>
      <p:sp>
        <p:nvSpPr>
          <p:cNvPr id="214" name="Google Shape;214;p27"/>
          <p:cNvSpPr txBox="1"/>
          <p:nvPr/>
        </p:nvSpPr>
        <p:spPr>
          <a:xfrm>
            <a:off x="914400" y="4751040"/>
            <a:ext cx="48960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Engelleri Aşma Yeteneği</a:t>
            </a:r>
            <a:r>
              <a:rPr lang="en-US" sz="1500" b="0" i="0" u="none" strike="noStrike" cap="none">
                <a:solidFill>
                  <a:srgbClr val="D4D4D4"/>
                </a:solidFill>
                <a:latin typeface="Inter"/>
                <a:ea typeface="Inter"/>
                <a:cs typeface="Inter"/>
                <a:sym typeface="Inter"/>
              </a:rPr>
              <a:t> Dinamik JavaScript içeriklerini render eder, proxy rotasyonlarını yönetir ve birçok temel anti-bot sistemini otomatik olarak geçer.</a:t>
            </a:r>
            <a:endParaRPr/>
          </a:p>
        </p:txBody>
      </p:sp>
      <p:sp>
        <p:nvSpPr>
          <p:cNvPr id="215" name="Google Shape;215;p27"/>
          <p:cNvSpPr txBox="1"/>
          <p:nvPr/>
        </p:nvSpPr>
        <p:spPr>
          <a:xfrm>
            <a:off x="571500" y="571500"/>
            <a:ext cx="11601600" cy="554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FFFFFF"/>
                </a:solidFill>
                <a:latin typeface="Urbanist"/>
                <a:ea typeface="Urbanist"/>
                <a:cs typeface="Urbanist"/>
                <a:sym typeface="Urbanist"/>
              </a:rPr>
              <a:t>Sahneye Firecrawl Çıkıyor</a:t>
            </a:r>
            <a:endParaRPr/>
          </a:p>
        </p:txBody>
      </p:sp>
      <p:pic>
        <p:nvPicPr>
          <p:cNvPr id="216" name="Google Shape;216;p27" descr="image.png"/>
          <p:cNvPicPr preferRelativeResize="0"/>
          <p:nvPr/>
        </p:nvPicPr>
        <p:blipFill rotWithShape="1">
          <a:blip r:embed="rId4">
            <a:alphaModFix/>
          </a:blip>
          <a:srcRect/>
          <a:stretch/>
        </p:blipFill>
        <p:spPr>
          <a:xfrm>
            <a:off x="571500" y="1817340"/>
            <a:ext cx="95250" cy="200025"/>
          </a:xfrm>
          <a:prstGeom prst="rect">
            <a:avLst/>
          </a:prstGeom>
          <a:noFill/>
          <a:ln>
            <a:noFill/>
          </a:ln>
        </p:spPr>
      </p:pic>
      <p:pic>
        <p:nvPicPr>
          <p:cNvPr id="217" name="Google Shape;217;p27" descr="image.png"/>
          <p:cNvPicPr preferRelativeResize="0"/>
          <p:nvPr/>
        </p:nvPicPr>
        <p:blipFill rotWithShape="1">
          <a:blip r:embed="rId4">
            <a:alphaModFix/>
          </a:blip>
          <a:srcRect/>
          <a:stretch/>
        </p:blipFill>
        <p:spPr>
          <a:xfrm>
            <a:off x="571500" y="3403765"/>
            <a:ext cx="95250" cy="200025"/>
          </a:xfrm>
          <a:prstGeom prst="rect">
            <a:avLst/>
          </a:prstGeom>
          <a:noFill/>
          <a:ln>
            <a:noFill/>
          </a:ln>
        </p:spPr>
      </p:pic>
      <p:pic>
        <p:nvPicPr>
          <p:cNvPr id="218" name="Google Shape;218;p27" descr="image.png"/>
          <p:cNvPicPr preferRelativeResize="0"/>
          <p:nvPr/>
        </p:nvPicPr>
        <p:blipFill rotWithShape="1">
          <a:blip r:embed="rId4">
            <a:alphaModFix/>
          </a:blip>
          <a:srcRect/>
          <a:stretch/>
        </p:blipFill>
        <p:spPr>
          <a:xfrm>
            <a:off x="571500" y="4789140"/>
            <a:ext cx="95250" cy="200025"/>
          </a:xfrm>
          <a:prstGeom prst="rect">
            <a:avLst/>
          </a:prstGeom>
          <a:noFill/>
          <a:ln>
            <a:noFill/>
          </a:ln>
        </p:spPr>
      </p:pic>
      <p:pic>
        <p:nvPicPr>
          <p:cNvPr id="219" name="Google Shape;219;p27" descr="A stylized icon of a flame combined with a spider (Firecrawl concept) at the center. It emits a powerful wave of orange and blue energy that hits a chaotic, complex website screenshot on the left. The website instantly transforms and simplifies into a clean, perfectly formatted Markdown document icon on the right. Magical tech transformation, dynamic motion."/>
          <p:cNvPicPr preferRelativeResize="0"/>
          <p:nvPr/>
        </p:nvPicPr>
        <p:blipFill>
          <a:blip r:embed="rId5">
            <a:alphaModFix/>
          </a:blip>
          <a:stretch>
            <a:fillRect/>
          </a:stretch>
        </p:blipFill>
        <p:spPr>
          <a:xfrm>
            <a:off x="6750825" y="1065375"/>
            <a:ext cx="4876800" cy="4876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23"/>
        <p:cNvGrpSpPr/>
        <p:nvPr/>
      </p:nvGrpSpPr>
      <p:grpSpPr>
        <a:xfrm>
          <a:off x="0" y="0"/>
          <a:ext cx="0" cy="0"/>
          <a:chOff x="0" y="0"/>
          <a:chExt cx="0" cy="0"/>
        </a:xfrm>
      </p:grpSpPr>
      <p:pic>
        <p:nvPicPr>
          <p:cNvPr id="224" name="Google Shape;224;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5" name="Google Shape;225;p28"/>
          <p:cNvSpPr txBox="1"/>
          <p:nvPr/>
        </p:nvSpPr>
        <p:spPr>
          <a:xfrm>
            <a:off x="6477000" y="1501080"/>
            <a:ext cx="54006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DEFF9A"/>
                </a:solidFill>
                <a:latin typeface="Urbanist"/>
                <a:ea typeface="Urbanist"/>
                <a:cs typeface="Urbanist"/>
                <a:sym typeface="Urbanist"/>
              </a:rPr>
              <a:t>Application Programming Interface</a:t>
            </a:r>
            <a:endParaRPr/>
          </a:p>
        </p:txBody>
      </p:sp>
      <p:sp>
        <p:nvSpPr>
          <p:cNvPr id="226" name="Google Shape;226;p28"/>
          <p:cNvSpPr txBox="1"/>
          <p:nvPr/>
        </p:nvSpPr>
        <p:spPr>
          <a:xfrm>
            <a:off x="6477000" y="2091630"/>
            <a:ext cx="51435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A3A3A3"/>
                </a:solidFill>
                <a:latin typeface="Inter"/>
                <a:ea typeface="Inter"/>
                <a:cs typeface="Inter"/>
                <a:sym typeface="Inter"/>
              </a:rPr>
              <a:t>API'ler, iki farklı yazılım sisteminin birbiriyle güvenli ve kurallı bir şekilde iletişim kurmasını sağlayan dijital köprülerdir.</a:t>
            </a:r>
            <a:endParaRPr/>
          </a:p>
        </p:txBody>
      </p:sp>
      <p:sp>
        <p:nvSpPr>
          <p:cNvPr id="227" name="Google Shape;227;p28"/>
          <p:cNvSpPr txBox="1"/>
          <p:nvPr/>
        </p:nvSpPr>
        <p:spPr>
          <a:xfrm>
            <a:off x="6819900" y="3234630"/>
            <a:ext cx="48006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İzinli Veri Aktarımı:</a:t>
            </a:r>
            <a:r>
              <a:rPr lang="en-US" sz="1500" b="0" i="0" u="none" strike="noStrike" cap="none">
                <a:solidFill>
                  <a:srgbClr val="D4D4D4"/>
                </a:solidFill>
                <a:latin typeface="Inter"/>
                <a:ea typeface="Inter"/>
                <a:cs typeface="Inter"/>
                <a:sym typeface="Inter"/>
              </a:rPr>
              <a:t> Siteyi "kazımak" yerine, sitenin kendi sunduğu resmi kapıdan veriyi doğrudan talep edersiniz.</a:t>
            </a:r>
            <a:endParaRPr/>
          </a:p>
        </p:txBody>
      </p:sp>
      <p:sp>
        <p:nvSpPr>
          <p:cNvPr id="228" name="Google Shape;228;p28"/>
          <p:cNvSpPr txBox="1"/>
          <p:nvPr/>
        </p:nvSpPr>
        <p:spPr>
          <a:xfrm>
            <a:off x="6819900" y="4415730"/>
            <a:ext cx="48006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Evrensel Dil:</a:t>
            </a:r>
            <a:r>
              <a:rPr lang="en-US" sz="1500" b="0" i="0" u="none" strike="noStrike" cap="none">
                <a:solidFill>
                  <a:srgbClr val="D4D4D4"/>
                </a:solidFill>
                <a:latin typeface="Inter"/>
                <a:ea typeface="Inter"/>
                <a:cs typeface="Inter"/>
                <a:sym typeface="Inter"/>
              </a:rPr>
              <a:t> Genellikle makinelerin çok hızlı okuyabildiği JSON (JavaScript Object Notation) formatında veri döner.</a:t>
            </a:r>
            <a:endParaRPr/>
          </a:p>
        </p:txBody>
      </p:sp>
      <p:sp>
        <p:nvSpPr>
          <p:cNvPr id="229" name="Google Shape;229;p28"/>
          <p:cNvSpPr txBox="1"/>
          <p:nvPr/>
        </p:nvSpPr>
        <p:spPr>
          <a:xfrm>
            <a:off x="6819900" y="5596830"/>
            <a:ext cx="48006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Kararlılık:</a:t>
            </a:r>
            <a:r>
              <a:rPr lang="en-US" sz="1500" b="0" i="0" u="none" strike="noStrike" cap="none">
                <a:solidFill>
                  <a:srgbClr val="D4D4D4"/>
                </a:solidFill>
                <a:latin typeface="Inter"/>
                <a:ea typeface="Inter"/>
                <a:cs typeface="Inter"/>
                <a:sym typeface="Inter"/>
              </a:rPr>
              <a:t> Web sitesinin tasarımı baştan aşağı değişse bile API arka planda sorunsuz çalışmaya devam eder.</a:t>
            </a:r>
            <a:endParaRPr/>
          </a:p>
        </p:txBody>
      </p:sp>
      <p:sp>
        <p:nvSpPr>
          <p:cNvPr id="230" name="Google Shape;230;p28"/>
          <p:cNvSpPr txBox="1"/>
          <p:nvPr/>
        </p:nvSpPr>
        <p:spPr>
          <a:xfrm>
            <a:off x="571500" y="571500"/>
            <a:ext cx="11601600" cy="554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FFFFFF"/>
                </a:solidFill>
                <a:latin typeface="Urbanist"/>
                <a:ea typeface="Urbanist"/>
                <a:cs typeface="Urbanist"/>
                <a:sym typeface="Urbanist"/>
              </a:rPr>
              <a:t>Verinin Kapı Zili: API Nedir?</a:t>
            </a:r>
            <a:endParaRPr/>
          </a:p>
        </p:txBody>
      </p:sp>
      <p:pic>
        <p:nvPicPr>
          <p:cNvPr id="231" name="Google Shape;231;p28" descr="image.png"/>
          <p:cNvPicPr preferRelativeResize="0"/>
          <p:nvPr/>
        </p:nvPicPr>
        <p:blipFill rotWithShape="1">
          <a:blip r:embed="rId4">
            <a:alphaModFix/>
          </a:blip>
          <a:srcRect/>
          <a:stretch/>
        </p:blipFill>
        <p:spPr>
          <a:xfrm>
            <a:off x="6477000" y="3272730"/>
            <a:ext cx="95250" cy="200025"/>
          </a:xfrm>
          <a:prstGeom prst="rect">
            <a:avLst/>
          </a:prstGeom>
          <a:noFill/>
          <a:ln>
            <a:noFill/>
          </a:ln>
        </p:spPr>
      </p:pic>
      <p:pic>
        <p:nvPicPr>
          <p:cNvPr id="232" name="Google Shape;232;p28" descr="image.png"/>
          <p:cNvPicPr preferRelativeResize="0"/>
          <p:nvPr/>
        </p:nvPicPr>
        <p:blipFill rotWithShape="1">
          <a:blip r:embed="rId4">
            <a:alphaModFix/>
          </a:blip>
          <a:srcRect/>
          <a:stretch/>
        </p:blipFill>
        <p:spPr>
          <a:xfrm>
            <a:off x="6477000" y="4453830"/>
            <a:ext cx="95250" cy="200025"/>
          </a:xfrm>
          <a:prstGeom prst="rect">
            <a:avLst/>
          </a:prstGeom>
          <a:noFill/>
          <a:ln>
            <a:noFill/>
          </a:ln>
        </p:spPr>
      </p:pic>
      <p:pic>
        <p:nvPicPr>
          <p:cNvPr id="233" name="Google Shape;233;p28" descr="image.png"/>
          <p:cNvPicPr preferRelativeResize="0"/>
          <p:nvPr/>
        </p:nvPicPr>
        <p:blipFill rotWithShape="1">
          <a:blip r:embed="rId4">
            <a:alphaModFix/>
          </a:blip>
          <a:srcRect/>
          <a:stretch/>
        </p:blipFill>
        <p:spPr>
          <a:xfrm>
            <a:off x="6477000" y="5634930"/>
            <a:ext cx="95250" cy="200025"/>
          </a:xfrm>
          <a:prstGeom prst="rect">
            <a:avLst/>
          </a:prstGeom>
          <a:noFill/>
          <a:ln>
            <a:noFill/>
          </a:ln>
        </p:spPr>
      </p:pic>
      <p:pic>
        <p:nvPicPr>
          <p:cNvPr id="234" name="Google Shape;234;p28" descr="A stylized, modern restaurant scene rendered in a clean, isometric digital art style. A customer (labeled &quot;Client App&quot;) hands an order ticket to a friendly robot waiter (labeled &quot;API&quot;). The robot waiter politely hands the ticket to a futuristic, automated kitchen window with a chef (labeled &quot;Server/DB&quot;). The kitchen hands back a perfectly plated dish (labeled &quot;JSON Data&quot;). Infographic illustration, friendly colors."/>
          <p:cNvPicPr preferRelativeResize="0"/>
          <p:nvPr/>
        </p:nvPicPr>
        <p:blipFill>
          <a:blip r:embed="rId5">
            <a:alphaModFix/>
          </a:blip>
          <a:stretch>
            <a:fillRect/>
          </a:stretch>
        </p:blipFill>
        <p:spPr>
          <a:xfrm>
            <a:off x="571500" y="1460925"/>
            <a:ext cx="4876800" cy="4876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38"/>
        <p:cNvGrpSpPr/>
        <p:nvPr/>
      </p:nvGrpSpPr>
      <p:grpSpPr>
        <a:xfrm>
          <a:off x="0" y="0"/>
          <a:ext cx="0" cy="0"/>
          <a:chOff x="0" y="0"/>
          <a:chExt cx="0" cy="0"/>
        </a:xfrm>
      </p:grpSpPr>
      <p:pic>
        <p:nvPicPr>
          <p:cNvPr id="239" name="Google Shape;239;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0" name="Google Shape;240;p29"/>
          <p:cNvSpPr txBox="1"/>
          <p:nvPr/>
        </p:nvSpPr>
        <p:spPr>
          <a:xfrm>
            <a:off x="571500" y="1401605"/>
            <a:ext cx="5238900" cy="1066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A3A3A3"/>
                </a:solidFill>
                <a:latin typeface="Inter"/>
                <a:ea typeface="Inter"/>
                <a:cs typeface="Inter"/>
                <a:sym typeface="Inter"/>
              </a:rPr>
              <a:t>Hava durumu sitesinin HTML'ini kazımak oldukça mantıksızdır çünkü veriler anlık değişir. Bunun yerine güvenilir API'ler kullanılır.</a:t>
            </a:r>
            <a:endParaRPr/>
          </a:p>
        </p:txBody>
      </p:sp>
      <p:sp>
        <p:nvSpPr>
          <p:cNvPr id="241" name="Google Shape;241;p29"/>
          <p:cNvSpPr txBox="1"/>
          <p:nvPr/>
        </p:nvSpPr>
        <p:spPr>
          <a:xfrm>
            <a:off x="914400" y="2692838"/>
            <a:ext cx="48960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İstek (Request)</a:t>
            </a:r>
            <a:r>
              <a:rPr lang="en-US" sz="1500" b="0" i="0" u="none" strike="noStrike" cap="none">
                <a:solidFill>
                  <a:srgbClr val="D4D4D4"/>
                </a:solidFill>
                <a:latin typeface="Inter"/>
                <a:ea typeface="Inter"/>
                <a:cs typeface="Inter"/>
                <a:sym typeface="Inter"/>
              </a:rPr>
              <a:t> Uygulamanız, API sunucusuna "Bana şu koordinatların anlık sıcaklık ve rüzgar verisini ver" der.</a:t>
            </a:r>
            <a:endParaRPr/>
          </a:p>
        </p:txBody>
      </p:sp>
      <p:sp>
        <p:nvSpPr>
          <p:cNvPr id="242" name="Google Shape;242;p29"/>
          <p:cNvSpPr txBox="1"/>
          <p:nvPr/>
        </p:nvSpPr>
        <p:spPr>
          <a:xfrm>
            <a:off x="914400" y="4178738"/>
            <a:ext cx="48960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Yanıt (Response)</a:t>
            </a:r>
            <a:r>
              <a:rPr lang="en-US" sz="1500" b="0" i="0" u="none" strike="noStrike" cap="none">
                <a:solidFill>
                  <a:srgbClr val="D4D4D4"/>
                </a:solidFill>
                <a:latin typeface="Inter"/>
                <a:ea typeface="Inter"/>
                <a:cs typeface="Inter"/>
                <a:sym typeface="Inter"/>
              </a:rPr>
              <a:t> Tomorrow.io sunucusu, saniyeler içinde bilgisayarın doğrudan parse edebileceği, yapılandırılmış mikro bir JSON verisi döndürür.</a:t>
            </a:r>
            <a:endParaRPr/>
          </a:p>
        </p:txBody>
      </p:sp>
      <p:sp>
        <p:nvSpPr>
          <p:cNvPr id="243" name="Google Shape;243;p29"/>
          <p:cNvSpPr txBox="1"/>
          <p:nvPr/>
        </p:nvSpPr>
        <p:spPr>
          <a:xfrm>
            <a:off x="914400" y="5664638"/>
            <a:ext cx="48960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Inter SemiBold"/>
                <a:ea typeface="Inter SemiBold"/>
                <a:cs typeface="Inter SemiBold"/>
                <a:sym typeface="Inter SemiBold"/>
              </a:rPr>
              <a:t>Avantaj</a:t>
            </a:r>
            <a:r>
              <a:rPr lang="en-US" sz="1500" b="0" i="0" u="none" strike="noStrike" cap="none">
                <a:solidFill>
                  <a:srgbClr val="D4D4D4"/>
                </a:solidFill>
                <a:latin typeface="Inter"/>
                <a:ea typeface="Inter"/>
                <a:cs typeface="Inter"/>
                <a:sym typeface="Inter"/>
              </a:rPr>
              <a:t> Kesin, anlık ve doğrudan veri entegrasyonu sağlar. Kesinti riski sıfıra yakındır.</a:t>
            </a:r>
            <a:endParaRPr/>
          </a:p>
        </p:txBody>
      </p:sp>
      <p:sp>
        <p:nvSpPr>
          <p:cNvPr id="244" name="Google Shape;244;p29"/>
          <p:cNvSpPr txBox="1"/>
          <p:nvPr/>
        </p:nvSpPr>
        <p:spPr>
          <a:xfrm>
            <a:off x="571500" y="571500"/>
            <a:ext cx="11601600" cy="554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FFFFFF"/>
                </a:solidFill>
                <a:latin typeface="Urbanist"/>
                <a:ea typeface="Urbanist"/>
                <a:cs typeface="Urbanist"/>
                <a:sym typeface="Urbanist"/>
              </a:rPr>
              <a:t>Örnek: Tomorrow.io API'si</a:t>
            </a:r>
            <a:endParaRPr/>
          </a:p>
        </p:txBody>
      </p:sp>
      <p:pic>
        <p:nvPicPr>
          <p:cNvPr id="245" name="Google Shape;245;p29" descr="image.png"/>
          <p:cNvPicPr preferRelativeResize="0"/>
          <p:nvPr/>
        </p:nvPicPr>
        <p:blipFill rotWithShape="1">
          <a:blip r:embed="rId4">
            <a:alphaModFix/>
          </a:blip>
          <a:srcRect/>
          <a:stretch/>
        </p:blipFill>
        <p:spPr>
          <a:xfrm>
            <a:off x="571500" y="2830413"/>
            <a:ext cx="95250" cy="200025"/>
          </a:xfrm>
          <a:prstGeom prst="rect">
            <a:avLst/>
          </a:prstGeom>
          <a:noFill/>
          <a:ln>
            <a:noFill/>
          </a:ln>
        </p:spPr>
      </p:pic>
      <p:pic>
        <p:nvPicPr>
          <p:cNvPr id="246" name="Google Shape;246;p29" descr="image.png"/>
          <p:cNvPicPr preferRelativeResize="0"/>
          <p:nvPr/>
        </p:nvPicPr>
        <p:blipFill rotWithShape="1">
          <a:blip r:embed="rId4">
            <a:alphaModFix/>
          </a:blip>
          <a:srcRect/>
          <a:stretch/>
        </p:blipFill>
        <p:spPr>
          <a:xfrm>
            <a:off x="571500" y="4316313"/>
            <a:ext cx="95250" cy="200025"/>
          </a:xfrm>
          <a:prstGeom prst="rect">
            <a:avLst/>
          </a:prstGeom>
          <a:noFill/>
          <a:ln>
            <a:noFill/>
          </a:ln>
        </p:spPr>
      </p:pic>
      <p:pic>
        <p:nvPicPr>
          <p:cNvPr id="247" name="Google Shape;247;p29" descr="image.png"/>
          <p:cNvPicPr preferRelativeResize="0"/>
          <p:nvPr/>
        </p:nvPicPr>
        <p:blipFill rotWithShape="1">
          <a:blip r:embed="rId4">
            <a:alphaModFix/>
          </a:blip>
          <a:srcRect/>
          <a:stretch/>
        </p:blipFill>
        <p:spPr>
          <a:xfrm>
            <a:off x="571500" y="5802213"/>
            <a:ext cx="95250" cy="200025"/>
          </a:xfrm>
          <a:prstGeom prst="rect">
            <a:avLst/>
          </a:prstGeom>
          <a:noFill/>
          <a:ln>
            <a:noFill/>
          </a:ln>
        </p:spPr>
      </p:pic>
      <p:pic>
        <p:nvPicPr>
          <p:cNvPr id="248" name="Google Shape;248;p29" descr="A futuristic weather station antenna on a high mountaintop transmitting a visible beam of data upwards to a stylized cloud. The cloud rains down glowing streams of clean JSON code lines showing temperature digits, wind icons, and humidity percentages instead of water droplets. Tech landscape, data visualization."/>
          <p:cNvPicPr preferRelativeResize="0"/>
          <p:nvPr/>
        </p:nvPicPr>
        <p:blipFill>
          <a:blip r:embed="rId5">
            <a:alphaModFix/>
          </a:blip>
          <a:stretch>
            <a:fillRect/>
          </a:stretch>
        </p:blipFill>
        <p:spPr>
          <a:xfrm>
            <a:off x="6759850" y="1053900"/>
            <a:ext cx="4876800" cy="4876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30" descr="Beautify this slide"/>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Google Shape;258;p31" descr="Beautify this slide"/>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62"/>
        <p:cNvGrpSpPr/>
        <p:nvPr/>
      </p:nvGrpSpPr>
      <p:grpSpPr>
        <a:xfrm>
          <a:off x="0" y="0"/>
          <a:ext cx="0" cy="0"/>
          <a:chOff x="0" y="0"/>
          <a:chExt cx="0" cy="0"/>
        </a:xfrm>
      </p:grpSpPr>
      <p:pic>
        <p:nvPicPr>
          <p:cNvPr id="263" name="Google Shape;263;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4" name="Google Shape;264;p32"/>
          <p:cNvSpPr txBox="1"/>
          <p:nvPr/>
        </p:nvSpPr>
        <p:spPr>
          <a:xfrm>
            <a:off x="571500" y="300150"/>
            <a:ext cx="5200800" cy="554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FFFFFF"/>
                </a:solidFill>
                <a:latin typeface="Urbanist"/>
                <a:ea typeface="Urbanist"/>
                <a:cs typeface="Urbanist"/>
                <a:sym typeface="Urbanist"/>
              </a:rPr>
              <a:t>Sitelerin Sınırı: robots.txt</a:t>
            </a:r>
            <a:endParaRPr/>
          </a:p>
        </p:txBody>
      </p:sp>
      <p:sp>
        <p:nvSpPr>
          <p:cNvPr id="265" name="Google Shape;265;p32"/>
          <p:cNvSpPr txBox="1"/>
          <p:nvPr/>
        </p:nvSpPr>
        <p:spPr>
          <a:xfrm>
            <a:off x="571500" y="1121225"/>
            <a:ext cx="5537700" cy="1440900"/>
          </a:xfrm>
          <a:prstGeom prst="rect">
            <a:avLst/>
          </a:prstGeom>
          <a:noFill/>
          <a:ln>
            <a:noFill/>
          </a:ln>
        </p:spPr>
        <p:txBody>
          <a:bodyPr spcFirstLastPara="1" wrap="square" lIns="0" tIns="0" rIns="0" bIns="0" anchor="t" anchorCtr="0">
            <a:spAutoFit/>
          </a:bodyPr>
          <a:lstStyle/>
          <a:p>
            <a:pPr marL="0" marR="0" lvl="0" indent="0" algn="l" rtl="0">
              <a:lnSpc>
                <a:spcPct val="155777"/>
              </a:lnSpc>
              <a:spcBef>
                <a:spcPts val="0"/>
              </a:spcBef>
              <a:spcAft>
                <a:spcPts val="0"/>
              </a:spcAft>
              <a:buNone/>
            </a:pPr>
            <a:r>
              <a:rPr lang="en-US" sz="1650" b="1" i="0" u="none" strike="noStrike" cap="none">
                <a:solidFill>
                  <a:srgbClr val="DEFF9A"/>
                </a:solidFill>
                <a:latin typeface="Inter"/>
                <a:ea typeface="Inter"/>
                <a:cs typeface="Inter"/>
                <a:sym typeface="Inter"/>
              </a:rPr>
              <a:t>Web Sitelerinin Anayasası:</a:t>
            </a:r>
            <a:br>
              <a:rPr lang="en-US" sz="1800" b="0" i="0" u="none" strike="noStrike" cap="none">
                <a:solidFill>
                  <a:schemeClr val="dk1"/>
                </a:solidFill>
                <a:latin typeface="Calibri"/>
                <a:ea typeface="Calibri"/>
                <a:cs typeface="Calibri"/>
                <a:sym typeface="Calibri"/>
              </a:rPr>
            </a:br>
            <a:r>
              <a:rPr lang="en-US" sz="1650" b="0" i="0" u="none" strike="noStrike" cap="none">
                <a:solidFill>
                  <a:srgbClr val="D4D4D4"/>
                </a:solidFill>
                <a:latin typeface="Inter"/>
                <a:ea typeface="Inter"/>
                <a:cs typeface="Inter"/>
                <a:sym typeface="Inter"/>
              </a:rPr>
              <a:t> Scraping yapmadan önce her zaman siteadi.com/robots.txt dosyası kontrol edilmelidir. Bu dosya bir sitenin botlara yönelik temel kurallarını içerir.</a:t>
            </a:r>
            <a:endParaRPr/>
          </a:p>
        </p:txBody>
      </p:sp>
      <p:sp>
        <p:nvSpPr>
          <p:cNvPr id="266" name="Google Shape;266;p32"/>
          <p:cNvSpPr txBox="1"/>
          <p:nvPr/>
        </p:nvSpPr>
        <p:spPr>
          <a:xfrm>
            <a:off x="571500" y="2829100"/>
            <a:ext cx="5347800" cy="1836600"/>
          </a:xfrm>
          <a:prstGeom prst="rect">
            <a:avLst/>
          </a:prstGeom>
          <a:noFill/>
          <a:ln>
            <a:noFill/>
          </a:ln>
        </p:spPr>
        <p:txBody>
          <a:bodyPr spcFirstLastPara="1" wrap="square" lIns="0" tIns="0" rIns="0" bIns="0" anchor="t" anchorCtr="0">
            <a:spAutoFit/>
          </a:bodyPr>
          <a:lstStyle/>
          <a:p>
            <a:pPr marL="0" marR="0" lvl="0" indent="0" algn="l" rtl="0">
              <a:lnSpc>
                <a:spcPct val="155777"/>
              </a:lnSpc>
              <a:spcBef>
                <a:spcPts val="0"/>
              </a:spcBef>
              <a:spcAft>
                <a:spcPts val="0"/>
              </a:spcAft>
              <a:buNone/>
            </a:pPr>
            <a:r>
              <a:rPr lang="en-US" sz="1650" b="1" i="0" u="none" strike="noStrike" cap="none">
                <a:solidFill>
                  <a:srgbClr val="FFFFFF"/>
                </a:solidFill>
                <a:latin typeface="Inter"/>
                <a:ea typeface="Inter"/>
                <a:cs typeface="Inter"/>
                <a:sym typeface="Inter"/>
              </a:rPr>
              <a:t>Kurallar Çerçevesi:</a:t>
            </a:r>
            <a:br>
              <a:rPr lang="en-US" sz="1800" b="0" i="0" u="none" strike="noStrike" cap="none">
                <a:solidFill>
                  <a:schemeClr val="dk1"/>
                </a:solidFill>
                <a:latin typeface="Calibri"/>
                <a:ea typeface="Calibri"/>
                <a:cs typeface="Calibri"/>
                <a:sym typeface="Calibri"/>
              </a:rPr>
            </a:br>
            <a:r>
              <a:rPr lang="en-US" sz="1650" b="0" i="0" u="none" strike="noStrike" cap="none">
                <a:solidFill>
                  <a:srgbClr val="D4D4D4"/>
                </a:solidFill>
                <a:latin typeface="Inter"/>
                <a:ea typeface="Inter"/>
                <a:cs typeface="Inter"/>
                <a:sym typeface="Inter"/>
              </a:rPr>
              <a:t> Dosya içerisinde Allow (İzin verilen) ve Disallow (Yasaklanan) dizinler net bir şekilde belirtilmiştir. Site sahibi hangi verinin taranmasını istemediğini burada açıklar.</a:t>
            </a:r>
            <a:endParaRPr/>
          </a:p>
        </p:txBody>
      </p:sp>
      <p:sp>
        <p:nvSpPr>
          <p:cNvPr id="267" name="Google Shape;267;p32"/>
          <p:cNvSpPr txBox="1"/>
          <p:nvPr/>
        </p:nvSpPr>
        <p:spPr>
          <a:xfrm>
            <a:off x="571500" y="4932675"/>
            <a:ext cx="5456100" cy="1836600"/>
          </a:xfrm>
          <a:prstGeom prst="rect">
            <a:avLst/>
          </a:prstGeom>
          <a:noFill/>
          <a:ln>
            <a:noFill/>
          </a:ln>
        </p:spPr>
        <p:txBody>
          <a:bodyPr spcFirstLastPara="1" wrap="square" lIns="0" tIns="0" rIns="0" bIns="0" anchor="t" anchorCtr="0">
            <a:spAutoFit/>
          </a:bodyPr>
          <a:lstStyle/>
          <a:p>
            <a:pPr marL="0" marR="0" lvl="0" indent="0" algn="l" rtl="0">
              <a:lnSpc>
                <a:spcPct val="155777"/>
              </a:lnSpc>
              <a:spcBef>
                <a:spcPts val="0"/>
              </a:spcBef>
              <a:spcAft>
                <a:spcPts val="0"/>
              </a:spcAft>
              <a:buNone/>
            </a:pPr>
            <a:r>
              <a:rPr lang="en-US" sz="1650" b="1" i="0" u="none" strike="noStrike" cap="none">
                <a:solidFill>
                  <a:srgbClr val="FFFFFF"/>
                </a:solidFill>
                <a:latin typeface="Inter"/>
                <a:ea typeface="Inter"/>
                <a:cs typeface="Inter"/>
                <a:sym typeface="Inter"/>
              </a:rPr>
              <a:t>Saygı Göstermek:</a:t>
            </a:r>
            <a:br>
              <a:rPr lang="en-US" sz="1800" b="0" i="0" u="none" strike="noStrike" cap="none">
                <a:solidFill>
                  <a:schemeClr val="dk1"/>
                </a:solidFill>
                <a:latin typeface="Calibri"/>
                <a:ea typeface="Calibri"/>
                <a:cs typeface="Calibri"/>
                <a:sym typeface="Calibri"/>
              </a:rPr>
            </a:br>
            <a:r>
              <a:rPr lang="en-US" sz="1650" b="0" i="0" u="none" strike="noStrike" cap="none">
                <a:solidFill>
                  <a:srgbClr val="D4D4D4"/>
                </a:solidFill>
                <a:latin typeface="Inter"/>
                <a:ea typeface="Inter"/>
                <a:cs typeface="Inter"/>
                <a:sym typeface="Inter"/>
              </a:rPr>
              <a:t> İyi bir veri mühendisi bu kurallara kayıtsız şartsız saygı gösterir. Bu dosyayı ihlal edip zorla kazıma yapmak, kalıcı IP engellemelerine ve ciddi yasal süreçlere kapı aralar.</a:t>
            </a:r>
            <a:endParaRPr/>
          </a:p>
        </p:txBody>
      </p:sp>
      <p:pic>
        <p:nvPicPr>
          <p:cNvPr id="268" name="Google Shape;268;p32" descr="The entrance to a neon-lit digital nightclub representing a website. A stern, robotic security guard stands behind a velvet rope, holding a glowing digital clipboard labeled &quot;robots.txt&quot;. The clipboard clearly shows a green checkmark next to a &quot;ALLOW /bot-A&quot; entry and a red X next to a &quot;DISALLOW /private-dir&quot; entry. Cyberpunk city vibe."/>
          <p:cNvPicPr preferRelativeResize="0"/>
          <p:nvPr/>
        </p:nvPicPr>
        <p:blipFill>
          <a:blip r:embed="rId4">
            <a:alphaModFix/>
          </a:blip>
          <a:stretch>
            <a:fillRect/>
          </a:stretch>
        </p:blipFill>
        <p:spPr>
          <a:xfrm>
            <a:off x="6470450" y="2186400"/>
            <a:ext cx="5418100" cy="30159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Shape 272"/>
        <p:cNvGrpSpPr/>
        <p:nvPr/>
      </p:nvGrpSpPr>
      <p:grpSpPr>
        <a:xfrm>
          <a:off x="0" y="0"/>
          <a:ext cx="0" cy="0"/>
          <a:chOff x="0" y="0"/>
          <a:chExt cx="0" cy="0"/>
        </a:xfrm>
      </p:grpSpPr>
      <p:pic>
        <p:nvPicPr>
          <p:cNvPr id="273" name="Google Shape;273;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74" name="Google Shape;274;p33"/>
          <p:cNvSpPr txBox="1"/>
          <p:nvPr/>
        </p:nvSpPr>
        <p:spPr>
          <a:xfrm>
            <a:off x="762000" y="762000"/>
            <a:ext cx="5350800" cy="2158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125" b="1" i="0" u="none" strike="noStrike" cap="none">
                <a:solidFill>
                  <a:srgbClr val="F5F5F5"/>
                </a:solidFill>
                <a:latin typeface="Urbanist"/>
                <a:ea typeface="Urbanist"/>
                <a:cs typeface="Urbanist"/>
                <a:sym typeface="Urbanist"/>
              </a:rPr>
              <a:t>Yapay Zekanın Yeni Rehberi:</a:t>
            </a:r>
            <a:br>
              <a:rPr lang="en-US" sz="1800" b="0" i="0" u="none" strike="noStrike" cap="none">
                <a:solidFill>
                  <a:schemeClr val="dk1"/>
                </a:solidFill>
                <a:latin typeface="Calibri"/>
                <a:ea typeface="Calibri"/>
                <a:cs typeface="Calibri"/>
                <a:sym typeface="Calibri"/>
              </a:rPr>
            </a:br>
            <a:r>
              <a:rPr lang="en-US" sz="4125" b="1" i="0" u="none" strike="noStrike" cap="none">
                <a:solidFill>
                  <a:srgbClr val="DEFF9A"/>
                </a:solidFill>
                <a:latin typeface="Urbanist"/>
                <a:ea typeface="Urbanist"/>
                <a:cs typeface="Urbanist"/>
                <a:sym typeface="Urbanist"/>
              </a:rPr>
              <a:t>"llms.txt"</a:t>
            </a:r>
            <a:endParaRPr/>
          </a:p>
        </p:txBody>
      </p:sp>
      <p:sp>
        <p:nvSpPr>
          <p:cNvPr id="275" name="Google Shape;275;p33"/>
          <p:cNvSpPr txBox="1"/>
          <p:nvPr/>
        </p:nvSpPr>
        <p:spPr>
          <a:xfrm>
            <a:off x="762000" y="3028950"/>
            <a:ext cx="5095800" cy="3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50" b="1" i="0" u="none" strike="noStrike" cap="none">
                <a:solidFill>
                  <a:srgbClr val="DAFFDE"/>
                </a:solidFill>
                <a:latin typeface="Urbanist"/>
                <a:ea typeface="Urbanist"/>
                <a:cs typeface="Urbanist"/>
                <a:sym typeface="Urbanist"/>
              </a:rPr>
              <a:t>LLM çağına özel yepyeni bir standart.</a:t>
            </a:r>
            <a:endParaRPr/>
          </a:p>
        </p:txBody>
      </p:sp>
      <p:sp>
        <p:nvSpPr>
          <p:cNvPr id="276" name="Google Shape;276;p33"/>
          <p:cNvSpPr txBox="1"/>
          <p:nvPr/>
        </p:nvSpPr>
        <p:spPr>
          <a:xfrm>
            <a:off x="1095375" y="3663255"/>
            <a:ext cx="4762500" cy="78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50" b="1" i="0" u="none" strike="noStrike" cap="none">
                <a:solidFill>
                  <a:srgbClr val="DAFFDE"/>
                </a:solidFill>
                <a:latin typeface="Urbanist"/>
                <a:ea typeface="Urbanist"/>
                <a:cs typeface="Urbanist"/>
                <a:sym typeface="Urbanist"/>
              </a:rPr>
              <a:t>robots.txt</a:t>
            </a:r>
            <a:r>
              <a:rPr lang="en-US" sz="1950" b="0" i="0" u="none" strike="noStrike" cap="none">
                <a:solidFill>
                  <a:srgbClr val="DAFFDE"/>
                </a:solidFill>
                <a:latin typeface="Urbanist"/>
                <a:ea typeface="Urbanist"/>
                <a:cs typeface="Urbanist"/>
                <a:sym typeface="Urbanist"/>
              </a:rPr>
              <a:t> "Buraya Girme" der;</a:t>
            </a:r>
            <a:br>
              <a:rPr lang="en-US" sz="1800" b="0" i="0" u="none" strike="noStrike" cap="none">
                <a:solidFill>
                  <a:schemeClr val="dk1"/>
                </a:solidFill>
                <a:latin typeface="Calibri"/>
                <a:ea typeface="Calibri"/>
                <a:cs typeface="Calibri"/>
                <a:sym typeface="Calibri"/>
              </a:rPr>
            </a:br>
            <a:r>
              <a:rPr lang="en-US" sz="1950" b="1" i="0" u="none" strike="noStrike" cap="none">
                <a:solidFill>
                  <a:srgbClr val="DAFFDE"/>
                </a:solidFill>
                <a:latin typeface="Urbanist"/>
                <a:ea typeface="Urbanist"/>
                <a:cs typeface="Urbanist"/>
                <a:sym typeface="Urbanist"/>
              </a:rPr>
              <a:t>llms.txt</a:t>
            </a:r>
            <a:r>
              <a:rPr lang="en-US" sz="1950" b="0" i="0" u="none" strike="noStrike" cap="none">
                <a:solidFill>
                  <a:srgbClr val="DAFFDE"/>
                </a:solidFill>
                <a:latin typeface="Urbanist"/>
                <a:ea typeface="Urbanist"/>
                <a:cs typeface="Urbanist"/>
                <a:sym typeface="Urbanist"/>
              </a:rPr>
              <a:t> "Beni Böyle Oku" der.</a:t>
            </a:r>
            <a:endParaRPr/>
          </a:p>
        </p:txBody>
      </p:sp>
      <p:sp>
        <p:nvSpPr>
          <p:cNvPr id="277" name="Google Shape;277;p33"/>
          <p:cNvSpPr txBox="1"/>
          <p:nvPr/>
        </p:nvSpPr>
        <p:spPr>
          <a:xfrm>
            <a:off x="1095375" y="4646116"/>
            <a:ext cx="4762500" cy="78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50" b="0" i="0" u="none" strike="noStrike" cap="none">
                <a:solidFill>
                  <a:srgbClr val="DAFFDE"/>
                </a:solidFill>
                <a:latin typeface="Urbanist"/>
                <a:ea typeface="Urbanist"/>
                <a:cs typeface="Urbanist"/>
                <a:sym typeface="Urbanist"/>
              </a:rPr>
              <a:t>AI ajanlarına sitenin temiz (Markdown) yapısını ve özetini sunar.</a:t>
            </a:r>
            <a:endParaRPr/>
          </a:p>
        </p:txBody>
      </p:sp>
      <p:sp>
        <p:nvSpPr>
          <p:cNvPr id="278" name="Google Shape;278;p33"/>
          <p:cNvSpPr txBox="1"/>
          <p:nvPr/>
        </p:nvSpPr>
        <p:spPr>
          <a:xfrm>
            <a:off x="1095375" y="5628977"/>
            <a:ext cx="4762500" cy="3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50" b="0" i="0" u="none" strike="noStrike" cap="none">
                <a:solidFill>
                  <a:srgbClr val="DAFFDE"/>
                </a:solidFill>
                <a:latin typeface="Urbanist"/>
                <a:ea typeface="Urbanist"/>
                <a:cs typeface="Urbanist"/>
                <a:sym typeface="Urbanist"/>
              </a:rPr>
              <a:t>RAG sistemleri için "altın tepside" veri sağlar.</a:t>
            </a:r>
            <a:endParaRPr/>
          </a:p>
        </p:txBody>
      </p:sp>
      <p:sp>
        <p:nvSpPr>
          <p:cNvPr id="279" name="Google Shape;279;p33"/>
          <p:cNvSpPr txBox="1"/>
          <p:nvPr/>
        </p:nvSpPr>
        <p:spPr>
          <a:xfrm>
            <a:off x="762000" y="3663255"/>
            <a:ext cx="247800" cy="3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50" b="1" i="0" u="none" strike="noStrike" cap="none">
                <a:solidFill>
                  <a:srgbClr val="DEFF9A"/>
                </a:solidFill>
                <a:latin typeface="Urbanist"/>
                <a:ea typeface="Urbanist"/>
                <a:cs typeface="Urbanist"/>
                <a:sym typeface="Urbanist"/>
              </a:rPr>
              <a:t>→</a:t>
            </a:r>
            <a:endParaRPr/>
          </a:p>
        </p:txBody>
      </p:sp>
      <p:sp>
        <p:nvSpPr>
          <p:cNvPr id="280" name="Google Shape;280;p33"/>
          <p:cNvSpPr txBox="1"/>
          <p:nvPr/>
        </p:nvSpPr>
        <p:spPr>
          <a:xfrm>
            <a:off x="762000" y="4646116"/>
            <a:ext cx="247800" cy="3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50" b="1" i="0" u="none" strike="noStrike" cap="none">
                <a:solidFill>
                  <a:srgbClr val="DEFF9A"/>
                </a:solidFill>
                <a:latin typeface="Urbanist"/>
                <a:ea typeface="Urbanist"/>
                <a:cs typeface="Urbanist"/>
                <a:sym typeface="Urbanist"/>
              </a:rPr>
              <a:t>→</a:t>
            </a:r>
            <a:endParaRPr/>
          </a:p>
        </p:txBody>
      </p:sp>
      <p:sp>
        <p:nvSpPr>
          <p:cNvPr id="281" name="Google Shape;281;p33"/>
          <p:cNvSpPr txBox="1"/>
          <p:nvPr/>
        </p:nvSpPr>
        <p:spPr>
          <a:xfrm>
            <a:off x="762000" y="5628977"/>
            <a:ext cx="247800" cy="3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50" b="1" i="0" u="none" strike="noStrike" cap="none">
                <a:solidFill>
                  <a:srgbClr val="DEFF9A"/>
                </a:solidFill>
                <a:latin typeface="Urbanist"/>
                <a:ea typeface="Urbanist"/>
                <a:cs typeface="Urbanist"/>
                <a:sym typeface="Urbanist"/>
              </a:rPr>
              <a:t>→</a:t>
            </a:r>
            <a:endParaRPr/>
          </a:p>
        </p:txBody>
      </p:sp>
      <p:pic>
        <p:nvPicPr>
          <p:cNvPr id="282" name="Google Shape;282;p33" descr="Next to the robotic guard from the previous scene, there is now a sleek, floating holographic guide book emitting a welcoming, soft blue light, labeled &quot;llms.txt&quot;. It projects a structured, clean, inviting summary of the building's layout meant for AI bots. Futuristic, inviting, clean interface design contrasting with the stern robot."/>
          <p:cNvPicPr preferRelativeResize="0"/>
          <p:nvPr/>
        </p:nvPicPr>
        <p:blipFill>
          <a:blip r:embed="rId4">
            <a:alphaModFix/>
          </a:blip>
          <a:stretch>
            <a:fillRect/>
          </a:stretch>
        </p:blipFill>
        <p:spPr>
          <a:xfrm>
            <a:off x="5943450" y="1795825"/>
            <a:ext cx="5867924" cy="32663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Shape 286"/>
        <p:cNvGrpSpPr/>
        <p:nvPr/>
      </p:nvGrpSpPr>
      <p:grpSpPr>
        <a:xfrm>
          <a:off x="0" y="0"/>
          <a:ext cx="0" cy="0"/>
          <a:chOff x="0" y="0"/>
          <a:chExt cx="0" cy="0"/>
        </a:xfrm>
      </p:grpSpPr>
      <p:pic>
        <p:nvPicPr>
          <p:cNvPr id="287" name="Google Shape;287;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88" name="Google Shape;288;p34"/>
          <p:cNvSpPr txBox="1"/>
          <p:nvPr/>
        </p:nvSpPr>
        <p:spPr>
          <a:xfrm>
            <a:off x="1000125" y="2356842"/>
            <a:ext cx="4857900" cy="72030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DAFFDE"/>
                </a:solidFill>
                <a:latin typeface="Urbanist"/>
                <a:ea typeface="Urbanist"/>
                <a:cs typeface="Urbanist"/>
                <a:sym typeface="Urbanist"/>
              </a:rPr>
              <a:t>Dünyanın en iyi algoritması</a:t>
            </a:r>
            <a:r>
              <a:rPr lang="en-US" sz="1800" b="0" i="0" u="none" strike="noStrike" cap="none">
                <a:solidFill>
                  <a:srgbClr val="DAFFDE"/>
                </a:solidFill>
                <a:latin typeface="Urbanist"/>
                <a:ea typeface="Urbanist"/>
                <a:cs typeface="Urbanist"/>
                <a:sym typeface="Urbanist"/>
              </a:rPr>
              <a:t> bile kötü veriyi düzeltemez. Verinin kalitesi, modelin kalitesidir.</a:t>
            </a:r>
            <a:endParaRPr/>
          </a:p>
        </p:txBody>
      </p:sp>
      <p:sp>
        <p:nvSpPr>
          <p:cNvPr id="289" name="Google Shape;289;p34"/>
          <p:cNvSpPr txBox="1"/>
          <p:nvPr/>
        </p:nvSpPr>
        <p:spPr>
          <a:xfrm>
            <a:off x="1000125" y="3373933"/>
            <a:ext cx="4857900" cy="116340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DAFFDE"/>
                </a:solidFill>
                <a:latin typeface="Urbanist"/>
                <a:ea typeface="Urbanist"/>
                <a:cs typeface="Urbanist"/>
                <a:sym typeface="Urbanist"/>
              </a:rPr>
              <a:t>Eksik veri (Missing Data):</a:t>
            </a:r>
            <a:r>
              <a:rPr lang="en-US" sz="1800" b="0" i="0" u="none" strike="noStrike" cap="none">
                <a:solidFill>
                  <a:srgbClr val="DAFFDE"/>
                </a:solidFill>
                <a:latin typeface="Urbanist"/>
                <a:ea typeface="Urbanist"/>
                <a:cs typeface="Urbanist"/>
                <a:sym typeface="Urbanist"/>
              </a:rPr>
              <a:t> Boş hücrelerle ve eksik satırlarla nasıl başa çıkılır? Veri doldurma stratejileri.</a:t>
            </a:r>
            <a:endParaRPr/>
          </a:p>
        </p:txBody>
      </p:sp>
      <p:sp>
        <p:nvSpPr>
          <p:cNvPr id="290" name="Google Shape;290;p34"/>
          <p:cNvSpPr txBox="1"/>
          <p:nvPr/>
        </p:nvSpPr>
        <p:spPr>
          <a:xfrm>
            <a:off x="1000125" y="4756695"/>
            <a:ext cx="4857900" cy="116340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DAFFDE"/>
                </a:solidFill>
                <a:latin typeface="Urbanist"/>
                <a:ea typeface="Urbanist"/>
                <a:cs typeface="Urbanist"/>
                <a:sym typeface="Urbanist"/>
              </a:rPr>
              <a:t>Aykırı veri (Outliers):</a:t>
            </a:r>
            <a:r>
              <a:rPr lang="en-US" sz="1800" b="0" i="0" u="none" strike="noStrike" cap="none">
                <a:solidFill>
                  <a:srgbClr val="DAFFDE"/>
                </a:solidFill>
                <a:latin typeface="Urbanist"/>
                <a:ea typeface="Urbanist"/>
                <a:cs typeface="Urbanist"/>
                <a:sym typeface="Urbanist"/>
              </a:rPr>
              <a:t> Sistemi bozan uç değerler tespit edilip temizlenmezse yapay zeka halüsinasyonları artar.</a:t>
            </a:r>
            <a:endParaRPr/>
          </a:p>
        </p:txBody>
      </p:sp>
      <p:pic>
        <p:nvPicPr>
          <p:cNvPr id="291" name="Google Shape;291;p34" descr="image.png"/>
          <p:cNvPicPr preferRelativeResize="0"/>
          <p:nvPr/>
        </p:nvPicPr>
        <p:blipFill rotWithShape="1">
          <a:blip r:embed="rId4">
            <a:alphaModFix/>
          </a:blip>
          <a:srcRect/>
          <a:stretch/>
        </p:blipFill>
        <p:spPr>
          <a:xfrm>
            <a:off x="571500" y="2390179"/>
            <a:ext cx="247650" cy="257175"/>
          </a:xfrm>
          <a:prstGeom prst="rect">
            <a:avLst/>
          </a:prstGeom>
          <a:noFill/>
          <a:ln>
            <a:noFill/>
          </a:ln>
        </p:spPr>
      </p:pic>
      <p:pic>
        <p:nvPicPr>
          <p:cNvPr id="292" name="Google Shape;292;p34" descr="image.png"/>
          <p:cNvPicPr preferRelativeResize="0"/>
          <p:nvPr/>
        </p:nvPicPr>
        <p:blipFill rotWithShape="1">
          <a:blip r:embed="rId5">
            <a:alphaModFix/>
          </a:blip>
          <a:srcRect/>
          <a:stretch/>
        </p:blipFill>
        <p:spPr>
          <a:xfrm>
            <a:off x="571500" y="3407271"/>
            <a:ext cx="219075" cy="257175"/>
          </a:xfrm>
          <a:prstGeom prst="rect">
            <a:avLst/>
          </a:prstGeom>
          <a:noFill/>
          <a:ln>
            <a:noFill/>
          </a:ln>
        </p:spPr>
      </p:pic>
      <p:pic>
        <p:nvPicPr>
          <p:cNvPr id="293" name="Google Shape;293;p34" descr="image.png"/>
          <p:cNvPicPr preferRelativeResize="0"/>
          <p:nvPr/>
        </p:nvPicPr>
        <p:blipFill rotWithShape="1">
          <a:blip r:embed="rId6">
            <a:alphaModFix/>
          </a:blip>
          <a:srcRect/>
          <a:stretch/>
        </p:blipFill>
        <p:spPr>
          <a:xfrm>
            <a:off x="571500" y="4790033"/>
            <a:ext cx="247650" cy="257175"/>
          </a:xfrm>
          <a:prstGeom prst="rect">
            <a:avLst/>
          </a:prstGeom>
          <a:noFill/>
          <a:ln>
            <a:noFill/>
          </a:ln>
        </p:spPr>
      </p:pic>
      <p:sp>
        <p:nvSpPr>
          <p:cNvPr id="294" name="Google Shape;294;p34"/>
          <p:cNvSpPr txBox="1"/>
          <p:nvPr/>
        </p:nvSpPr>
        <p:spPr>
          <a:xfrm>
            <a:off x="571500" y="571500"/>
            <a:ext cx="11601600" cy="1396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125" b="1" i="0" u="none" strike="noStrike" cap="none">
                <a:solidFill>
                  <a:srgbClr val="F5F5F5"/>
                </a:solidFill>
                <a:latin typeface="Urbanist"/>
                <a:ea typeface="Urbanist"/>
                <a:cs typeface="Urbanist"/>
                <a:sym typeface="Urbanist"/>
              </a:rPr>
              <a:t>Çöp İçeri,</a:t>
            </a:r>
            <a:br>
              <a:rPr lang="en-US" sz="1800" b="0" i="0" u="none" strike="noStrike" cap="none">
                <a:solidFill>
                  <a:schemeClr val="dk1"/>
                </a:solidFill>
                <a:latin typeface="Calibri"/>
                <a:ea typeface="Calibri"/>
                <a:cs typeface="Calibri"/>
                <a:sym typeface="Calibri"/>
              </a:rPr>
            </a:br>
            <a:r>
              <a:rPr lang="en-US" sz="4125" b="1" i="0" u="none" strike="noStrike" cap="none">
                <a:solidFill>
                  <a:srgbClr val="DEFF9A"/>
                </a:solidFill>
                <a:latin typeface="Urbanist"/>
                <a:ea typeface="Urbanist"/>
                <a:cs typeface="Urbanist"/>
                <a:sym typeface="Urbanist"/>
              </a:rPr>
              <a:t>Çöp Dışarı (GIGO)</a:t>
            </a:r>
            <a:endParaRPr/>
          </a:p>
        </p:txBody>
      </p:sp>
      <p:pic>
        <p:nvPicPr>
          <p:cNvPr id="295" name="Google Shape;295;p34" descr="A large, stylized industrial funnel machine. Into the wide top, piles of digital junk, broken data blocks, corrupted files, and question marks are being dumped (&quot;Garbage In&quot;). Out of the narrow bottom spout, a malformed, sputtering, broken robot toy is being extruded (&quot;Garbage Out&quot;). Industrial dystopia style, clear cause-and-effect visualization."/>
          <p:cNvPicPr preferRelativeResize="0"/>
          <p:nvPr/>
        </p:nvPicPr>
        <p:blipFill>
          <a:blip r:embed="rId7">
            <a:alphaModFix/>
          </a:blip>
          <a:stretch>
            <a:fillRect/>
          </a:stretch>
        </p:blipFill>
        <p:spPr>
          <a:xfrm>
            <a:off x="6877450" y="990600"/>
            <a:ext cx="4876800" cy="4876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pic>
        <p:nvPicPr>
          <p:cNvPr id="300" name="Google Shape;300;p35" descr="Beautify this slide"/>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pic>
        <p:nvPicPr>
          <p:cNvPr id="305" name="Google Shape;305;p36" descr="Beautify this slide"/>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Shape 309"/>
        <p:cNvGrpSpPr/>
        <p:nvPr/>
      </p:nvGrpSpPr>
      <p:grpSpPr>
        <a:xfrm>
          <a:off x="0" y="0"/>
          <a:ext cx="0" cy="0"/>
          <a:chOff x="0" y="0"/>
          <a:chExt cx="0" cy="0"/>
        </a:xfrm>
      </p:grpSpPr>
      <p:pic>
        <p:nvPicPr>
          <p:cNvPr id="310" name="Google Shape;310;p37" descr="image.png"/>
          <p:cNvPicPr preferRelativeResize="0"/>
          <p:nvPr/>
        </p:nvPicPr>
        <p:blipFill rotWithShape="1">
          <a:blip r:embed="rId3">
            <a:alphaModFix/>
          </a:blip>
          <a:srcRect/>
          <a:stretch/>
        </p:blipFill>
        <p:spPr>
          <a:xfrm>
            <a:off x="0" y="26425"/>
            <a:ext cx="12192000" cy="6858000"/>
          </a:xfrm>
          <a:prstGeom prst="rect">
            <a:avLst/>
          </a:prstGeom>
          <a:noFill/>
          <a:ln>
            <a:noFill/>
          </a:ln>
        </p:spPr>
      </p:pic>
      <p:sp>
        <p:nvSpPr>
          <p:cNvPr id="311" name="Google Shape;311;p37"/>
          <p:cNvSpPr txBox="1"/>
          <p:nvPr/>
        </p:nvSpPr>
        <p:spPr>
          <a:xfrm>
            <a:off x="1419244" y="1748812"/>
            <a:ext cx="9281100" cy="1038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750" b="1" i="0" u="none" strike="noStrike" cap="none">
                <a:solidFill>
                  <a:srgbClr val="F5F5F5"/>
                </a:solidFill>
                <a:latin typeface="Urbanist"/>
                <a:ea typeface="Urbanist"/>
                <a:cs typeface="Urbanist"/>
                <a:sym typeface="Urbanist"/>
              </a:rPr>
              <a:t>Özet ve </a:t>
            </a:r>
            <a:r>
              <a:rPr lang="en-US" sz="6750" b="1" i="0" u="none" strike="noStrike" cap="none">
                <a:solidFill>
                  <a:srgbClr val="DEFF9A"/>
                </a:solidFill>
                <a:latin typeface="Urbanist"/>
                <a:ea typeface="Urbanist"/>
                <a:cs typeface="Urbanist"/>
                <a:sym typeface="Urbanist"/>
              </a:rPr>
              <a:t>Teşekkürler</a:t>
            </a:r>
            <a:endParaRPr/>
          </a:p>
        </p:txBody>
      </p:sp>
      <p:sp>
        <p:nvSpPr>
          <p:cNvPr id="312" name="Google Shape;312;p37"/>
          <p:cNvSpPr txBox="1"/>
          <p:nvPr/>
        </p:nvSpPr>
        <p:spPr>
          <a:xfrm>
            <a:off x="1640225" y="3063262"/>
            <a:ext cx="8839200" cy="346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250" b="0" i="0" u="none" strike="noStrike" cap="none">
                <a:solidFill>
                  <a:srgbClr val="DAFFDE"/>
                </a:solidFill>
                <a:latin typeface="Urbanist"/>
                <a:ea typeface="Urbanist"/>
                <a:cs typeface="Urbanist"/>
                <a:sym typeface="Urbanist"/>
              </a:rPr>
              <a:t>Veri yeni topraktır, onu nasıl işleyeceğimizi öğrendik.</a:t>
            </a:r>
            <a:endParaRPr/>
          </a:p>
        </p:txBody>
      </p:sp>
      <p:sp>
        <p:nvSpPr>
          <p:cNvPr id="313" name="Google Shape;313;p37"/>
          <p:cNvSpPr txBox="1"/>
          <p:nvPr/>
        </p:nvSpPr>
        <p:spPr>
          <a:xfrm>
            <a:off x="1640225" y="3710962"/>
            <a:ext cx="8839200" cy="900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250" b="0" i="0" u="none" strike="noStrike" cap="none">
                <a:solidFill>
                  <a:srgbClr val="DAFFDE"/>
                </a:solidFill>
                <a:latin typeface="Urbanist"/>
                <a:ea typeface="Urbanist"/>
                <a:cs typeface="Urbanist"/>
                <a:sym typeface="Urbanist"/>
              </a:rPr>
              <a:t>Gelenekselden GenAI çağına geçişi gördük (Kaggle → Hugging Face, Selenium → Firecrawl).</a:t>
            </a:r>
            <a:endParaRPr/>
          </a:p>
        </p:txBody>
      </p:sp>
      <p:sp>
        <p:nvSpPr>
          <p:cNvPr id="314" name="Google Shape;314;p37"/>
          <p:cNvSpPr txBox="1"/>
          <p:nvPr/>
        </p:nvSpPr>
        <p:spPr>
          <a:xfrm>
            <a:off x="1640225" y="4815862"/>
            <a:ext cx="8839200" cy="346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250" b="0" i="0" u="none" strike="noStrike" cap="none">
                <a:solidFill>
                  <a:srgbClr val="DAFFDE"/>
                </a:solidFill>
                <a:latin typeface="Urbanist"/>
                <a:ea typeface="Urbanist"/>
                <a:cs typeface="Urbanist"/>
                <a:sym typeface="Urbanist"/>
              </a:rPr>
              <a:t>Araçlarımızı ve etik sorumluluklarımızı tanıdık.</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9C0E3785-5A19-BB90-E4A1-23F0C4F60CDA}"/>
              </a:ext>
            </a:extLst>
          </p:cNvPr>
          <p:cNvSpPr>
            <a:spLocks noChangeArrowheads="1"/>
          </p:cNvSpPr>
          <p:nvPr/>
        </p:nvSpPr>
        <p:spPr bwMode="auto">
          <a:xfrm>
            <a:off x="298890" y="-3511786"/>
            <a:ext cx="6339654" cy="8787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TR" altLang="en-TR" sz="1800" b="0" i="0" u="none" strike="noStrike" cap="none" normalizeH="0" baseline="0" dirty="0">
                <a:ln>
                  <a:noFill/>
                </a:ln>
                <a:solidFill>
                  <a:schemeClr val="tx1"/>
                </a:solidFill>
                <a:effectLst/>
                <a:latin typeface="Arial" panose="020B0604020202020204" pitchFamily="34" charset="0"/>
              </a:rPr>
              <a:t>  </a:t>
            </a:r>
            <a:r>
              <a:rPr kumimoji="0" lang="en-TR" altLang="en-TR" sz="29800" b="0" i="0" u="none" strike="noStrike" cap="none" normalizeH="0" baseline="0" dirty="0">
                <a:ln>
                  <a:noFill/>
                </a:ln>
                <a:solidFill>
                  <a:schemeClr val="tx1"/>
                </a:solidFill>
                <a:effectLst/>
                <a:latin typeface="Arial" panose="020B0604020202020204" pitchFamily="34" charset="0"/>
              </a:rPr>
              <a:t>    </a:t>
            </a:r>
            <a:br>
              <a:rPr kumimoji="0" lang="en-TR" altLang="en-TR" sz="1800" b="0" i="0" u="none" strike="noStrike" cap="none" normalizeH="0" baseline="0" dirty="0">
                <a:ln>
                  <a:noFill/>
                </a:ln>
                <a:solidFill>
                  <a:schemeClr val="tx1"/>
                </a:solidFill>
                <a:effectLst/>
                <a:latin typeface="Arial" panose="020B0604020202020204" pitchFamily="34" charset="0"/>
              </a:rPr>
            </a:br>
            <a:endParaRPr kumimoji="0" lang="en-TR" altLang="en-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TR" altLang="en-TR" sz="7200" b="1" i="0" u="none" strike="noStrike" cap="none" normalizeH="0" baseline="0" dirty="0">
                <a:ln>
                  <a:noFill/>
                </a:ln>
                <a:solidFill>
                  <a:srgbClr val="000000"/>
                </a:solidFill>
                <a:effectLst/>
                <a:latin typeface="Urbanist" panose="020B0A04040200000203"/>
                <a:ea typeface="Urbanist" panose="020B0A04040200000203"/>
                <a:cs typeface="Urbanist" panose="020B0A04040200000203"/>
              </a:rPr>
              <a:t>Sorularınız?</a:t>
            </a:r>
            <a:endParaRPr kumimoji="0" lang="en-TR" altLang="en-TR"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TR" altLang="en-TR"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TR" altLang="en-TR" sz="1800" b="0" i="0" u="none" strike="noStrike" cap="none" normalizeH="0" baseline="0" dirty="0">
                <a:ln>
                  <a:noFill/>
                </a:ln>
                <a:solidFill>
                  <a:schemeClr val="tx1"/>
                </a:solidFill>
                <a:effectLst/>
                <a:latin typeface="Arial" panose="020B0604020202020204" pitchFamily="34" charset="0"/>
              </a:rPr>
            </a:br>
            <a:endParaRPr kumimoji="0" lang="en-TR" altLang="en-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TR" altLang="en-TR"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Mail: ugurcan@turkishai.community</a:t>
            </a:r>
            <a:endParaRPr kumimoji="0" lang="en-TR" altLang="en-TR"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TR" altLang="en-TR"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TR" altLang="en-TR" sz="1800" b="0" i="0" u="none" strike="noStrike" cap="none" normalizeH="0" baseline="0" dirty="0">
                <a:ln>
                  <a:noFill/>
                </a:ln>
                <a:solidFill>
                  <a:schemeClr val="tx1"/>
                </a:solidFill>
                <a:effectLst/>
                <a:latin typeface="Arial" panose="020B0604020202020204" pitchFamily="34" charset="0"/>
              </a:rPr>
            </a:br>
            <a:endParaRPr kumimoji="0" lang="en-TR" altLang="en-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TR" altLang="en-TR"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Linkedin: ugurcanuzunkaya</a:t>
            </a:r>
            <a:endParaRPr kumimoji="0" lang="en-TR" altLang="en-TR"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TR" altLang="en-TR"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TR" altLang="en-TR" sz="1800" b="0" i="0" u="none" strike="noStrike" cap="none" normalizeH="0" baseline="0" dirty="0">
                <a:ln>
                  <a:noFill/>
                </a:ln>
                <a:solidFill>
                  <a:schemeClr val="tx1"/>
                </a:solidFill>
                <a:effectLst/>
                <a:latin typeface="Arial" panose="020B0604020202020204" pitchFamily="34" charset="0"/>
              </a:rPr>
            </a:br>
            <a:endParaRPr kumimoji="0" lang="en-TR" altLang="en-TR" sz="1800" b="0" i="0" u="none" strike="noStrike" cap="none" normalizeH="0" baseline="0" dirty="0">
              <a:ln>
                <a:noFill/>
              </a:ln>
              <a:solidFill>
                <a:schemeClr val="tx1"/>
              </a:solidFill>
              <a:effectLst/>
              <a:latin typeface="Arial" panose="020B0604020202020204" pitchFamily="34" charset="0"/>
            </a:endParaRPr>
          </a:p>
        </p:txBody>
      </p:sp>
      <p:pic>
        <p:nvPicPr>
          <p:cNvPr id="1028" name="Picture 4">
            <a:extLst>
              <a:ext uri="{FF2B5EF4-FFF2-40B4-BE49-F238E27FC236}">
                <a16:creationId xmlns:a16="http://schemas.microsoft.com/office/drawing/2014/main" id="{19ACBA45-FF78-1BE4-4C65-ADCEFF417E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8544" y="-18289"/>
            <a:ext cx="5553456" cy="6904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547927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996</Words>
  <Application>Microsoft Macintosh PowerPoint</Application>
  <PresentationFormat>Widescreen</PresentationFormat>
  <Paragraphs>76</Paragraphs>
  <Slides>26</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Inter</vt:lpstr>
      <vt:lpstr>Calibri</vt:lpstr>
      <vt:lpstr>Inter SemiBold</vt:lpstr>
      <vt:lpstr>Poppins SemiBold</vt:lpstr>
      <vt:lpstr>Urbanist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Uğurcan Uzunkaya</cp:lastModifiedBy>
  <cp:revision>2</cp:revision>
  <dcterms:modified xsi:type="dcterms:W3CDTF">2026-03-03T01:16:29Z</dcterms:modified>
</cp:coreProperties>
</file>